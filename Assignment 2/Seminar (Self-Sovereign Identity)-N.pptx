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7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snapToGrid="0">
      <p:cViewPr>
        <p:scale>
          <a:sx n="100" d="100"/>
          <a:sy n="100" d="100"/>
        </p:scale>
        <p:origin x="990"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1840A2-7F19-4395-AF54-A182C3786D84}"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D54E7C-0A82-4B01-A627-B6A97B42DF37}" type="slidenum">
              <a:rPr lang="en-US" smtClean="0"/>
              <a:t>‹#›</a:t>
            </a:fld>
            <a:endParaRPr lang="en-US"/>
          </a:p>
        </p:txBody>
      </p:sp>
    </p:spTree>
    <p:extLst>
      <p:ext uri="{BB962C8B-B14F-4D97-AF65-F5344CB8AC3E}">
        <p14:creationId xmlns:p14="http://schemas.microsoft.com/office/powerpoint/2010/main" val="1962656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 what is Self-Sovereign Identity, or SSI.</a:t>
            </a:r>
            <a:endParaRPr lang="en-US" dirty="0"/>
          </a:p>
          <a:p>
            <a:r>
              <a:rPr lang="en-US" dirty="0"/>
              <a:t>SSI is a digital identity system that gives users more control over their personal information.</a:t>
            </a:r>
          </a:p>
          <a:p>
            <a:r>
              <a:rPr lang="en-US" dirty="0"/>
              <a:t>In a traditional identity system, our personal information is usually stored and managed by a central organization, such as a government, university, or company.</a:t>
            </a:r>
          </a:p>
          <a:p>
            <a:r>
              <a:rPr lang="en-US" dirty="0"/>
              <a:t>With SSI, the user has more control over their identity information and can decide what information they want to share and with whom.</a:t>
            </a:r>
          </a:p>
          <a:p>
            <a:r>
              <a:rPr lang="en-US" dirty="0"/>
              <a:t>So, the main idea of SSI is to give users greater control, privacy, and flexibility over their digital identity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36959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the question is: why do we need a different identity model?</a:t>
            </a:r>
            <a:endParaRPr lang="en-US" dirty="0"/>
          </a:p>
          <a:p>
            <a:r>
              <a:rPr lang="en-US" dirty="0"/>
              <a:t>In a centralized identity system, our identity information is stored and controlled by one organization. The problem is that if this organization has a security breach or system failure, many users can be affected.</a:t>
            </a:r>
          </a:p>
          <a:p>
            <a:r>
              <a:rPr lang="en-US" dirty="0"/>
              <a:t>In a federated identity system, we can use one account to access different services. For example, we can use our Google account to sign in to other websites. This is convenient, but we still depend on a third-party provider.</a:t>
            </a:r>
          </a:p>
          <a:p>
            <a:r>
              <a:rPr lang="en-US" dirty="0"/>
              <a:t>SSI takes a different approach. The user can keep digital credentials in their own wallet and share verifiable proof when it is needed.</a:t>
            </a:r>
          </a:p>
          <a:p>
            <a:r>
              <a:rPr lang="en-US" dirty="0"/>
              <a:t>The main goal is to give users more control, privacy, and portability of their identity. However, we still need to trust legitimate organizations, such as a university or government, that issue the credentials.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SSI system, there are three main participants: the </a:t>
            </a:r>
            <a:r>
              <a:rPr lang="en-US" b="1" dirty="0"/>
              <a:t>Issuer, Holder, and Verifier</a:t>
            </a:r>
            <a:r>
              <a:rPr lang="en-US" dirty="0"/>
              <a:t>. </a:t>
            </a:r>
          </a:p>
          <a:p>
            <a:endParaRPr lang="en-US" dirty="0"/>
          </a:p>
          <a:p>
            <a:r>
              <a:rPr lang="en-US" dirty="0"/>
              <a:t>For example, a </a:t>
            </a:r>
            <a:r>
              <a:rPr lang="en-US" b="1" dirty="0"/>
              <a:t>university is the Issuer</a:t>
            </a:r>
            <a:r>
              <a:rPr lang="en-US" dirty="0"/>
              <a:t> because it gives and digitally signs a degree. </a:t>
            </a:r>
          </a:p>
          <a:p>
            <a:endParaRPr lang="en-US" dirty="0"/>
          </a:p>
          <a:p>
            <a:r>
              <a:rPr lang="en-US" dirty="0"/>
              <a:t>The </a:t>
            </a:r>
            <a:r>
              <a:rPr lang="en-US" b="1" dirty="0"/>
              <a:t>student is the Holder</a:t>
            </a:r>
            <a:r>
              <a:rPr lang="en-US" dirty="0"/>
              <a:t> because they receive the degree and keep it in their digital wallet. When the student applies for a job, they show proof of the degree to an employer. </a:t>
            </a:r>
          </a:p>
          <a:p>
            <a:endParaRPr lang="en-US" dirty="0"/>
          </a:p>
          <a:p>
            <a:r>
              <a:rPr lang="en-US" dirty="0"/>
              <a:t>The </a:t>
            </a:r>
            <a:r>
              <a:rPr lang="en-US" b="1" dirty="0"/>
              <a:t>employer is the Verifier</a:t>
            </a:r>
            <a:r>
              <a:rPr lang="en-US" dirty="0"/>
              <a:t> because they check that the degree is real, was issued by the university, and has not been changed. However, the employer still needs to </a:t>
            </a:r>
            <a:r>
              <a:rPr lang="en-US" b="1" dirty="0"/>
              <a:t>trust the university</a:t>
            </a:r>
            <a:r>
              <a:rPr lang="en-US" dirty="0"/>
              <a:t>, because cryptography can prove who issued the degree, but it cannot prove that the university itself is trustworthy.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main building blocks of SSI are </a:t>
            </a:r>
            <a:r>
              <a:rPr lang="en-US" b="1" dirty="0"/>
              <a:t>DID, VC, and VP</a:t>
            </a:r>
            <a:r>
              <a:rPr lang="en-US" dirty="0"/>
              <a:t>. A </a:t>
            </a:r>
            <a:r>
              <a:rPr lang="en-US" b="1" dirty="0"/>
              <a:t>DID</a:t>
            </a:r>
            <a:r>
              <a:rPr lang="en-US" dirty="0"/>
              <a:t> is a unique digital identifier that identifies a person or organization, and its control can be proven using cryptographic keys.</a:t>
            </a:r>
          </a:p>
          <a:p>
            <a:endParaRPr lang="en-US" dirty="0"/>
          </a:p>
          <a:p>
            <a:r>
              <a:rPr lang="en-US" dirty="0"/>
              <a:t>A </a:t>
            </a:r>
            <a:r>
              <a:rPr lang="en-US" b="1" dirty="0"/>
              <a:t>VC, or Verifiable Credential</a:t>
            </a:r>
            <a:r>
              <a:rPr lang="en-US" dirty="0"/>
              <a:t>, is a digital credential issued by a trusted organization. For example, a university can issue a digital degree to a student. </a:t>
            </a:r>
          </a:p>
          <a:p>
            <a:endParaRPr lang="en-US" dirty="0"/>
          </a:p>
          <a:p>
            <a:r>
              <a:rPr lang="en-US" dirty="0"/>
              <a:t>A </a:t>
            </a:r>
            <a:r>
              <a:rPr lang="en-US" b="1" dirty="0"/>
              <a:t>VP, or Verifiable Presentation</a:t>
            </a:r>
            <a:r>
              <a:rPr lang="en-US" dirty="0"/>
              <a:t>, is the proof that the user presents to someone who wants to verify the credential. For example, a student can present proof of their degree to an employer. </a:t>
            </a:r>
          </a:p>
          <a:p>
            <a:endParaRPr lang="en-US" dirty="0"/>
          </a:p>
          <a:p>
            <a:r>
              <a:rPr lang="en-US" dirty="0"/>
              <a:t>So, in simple words, </a:t>
            </a:r>
            <a:r>
              <a:rPr lang="en-US" b="1" dirty="0"/>
              <a:t>DID identifies us, VC is the credential we have, and VP is the proof we present</a:t>
            </a:r>
            <a:r>
              <a:rPr lang="en-US" dirty="0"/>
              <a:t>. Blockchain can be used to support SSI, but it is not always required.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SSI works step by step.</a:t>
            </a:r>
            <a:endParaRPr lang="en-US" dirty="0"/>
          </a:p>
          <a:p>
            <a:r>
              <a:rPr lang="en-US" dirty="0"/>
              <a:t>First, the student creates or controls a </a:t>
            </a:r>
            <a:r>
              <a:rPr lang="en-US" b="1" dirty="0"/>
              <a:t>DID</a:t>
            </a:r>
            <a:r>
              <a:rPr lang="en-US" dirty="0"/>
              <a:t> through their digital wallet. Then, the university verifies the student and issues a digitally signed </a:t>
            </a:r>
            <a:r>
              <a:rPr lang="en-US" b="1" dirty="0"/>
              <a:t>Verifiable Credential</a:t>
            </a:r>
            <a:r>
              <a:rPr lang="en-US" dirty="0"/>
              <a:t>, such as a degree.</a:t>
            </a:r>
          </a:p>
          <a:p>
            <a:r>
              <a:rPr lang="en-US" dirty="0"/>
              <a:t>The student stores this credential in their wallet and later presents a </a:t>
            </a:r>
            <a:r>
              <a:rPr lang="en-US" b="1" dirty="0"/>
              <a:t>Verifiable Presentation</a:t>
            </a:r>
            <a:r>
              <a:rPr lang="en-US" dirty="0"/>
              <a:t> to an employer.</a:t>
            </a:r>
          </a:p>
          <a:p>
            <a:r>
              <a:rPr lang="en-US" dirty="0"/>
              <a:t>Finally, the employer verifies the signature, the issuer, and whether the credential is still valid.</a:t>
            </a:r>
          </a:p>
          <a:p>
            <a:r>
              <a:rPr lang="en-US" dirty="0"/>
              <a:t>So the flow is: </a:t>
            </a:r>
            <a:r>
              <a:rPr lang="en-US" b="1" dirty="0"/>
              <a:t>create, issue, store, present, and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let’s understand DIDs and DID Documents.</a:t>
            </a:r>
            <a:endParaRPr lang="en-US" dirty="0"/>
          </a:p>
          <a:p>
            <a:r>
              <a:rPr lang="en-US" dirty="0"/>
              <a:t>A </a:t>
            </a:r>
            <a:r>
              <a:rPr lang="en-US" b="1" dirty="0"/>
              <a:t>DID, or Decentralized Identifier</a:t>
            </a:r>
            <a:r>
              <a:rPr lang="en-US" dirty="0"/>
              <a:t>, is a unique digital identifier for a person or organization.</a:t>
            </a:r>
          </a:p>
          <a:p>
            <a:endParaRPr lang="en-US" dirty="0"/>
          </a:p>
          <a:p>
            <a:r>
              <a:rPr lang="en-US" dirty="0"/>
              <a:t>The </a:t>
            </a:r>
            <a:r>
              <a:rPr lang="en-US" b="1" dirty="0"/>
              <a:t>DID Document</a:t>
            </a:r>
            <a:r>
              <a:rPr lang="en-US" dirty="0"/>
              <a:t> provides information needed to use and verify that DID, such as public keys, authentication methods, and service endpoints.</a:t>
            </a:r>
          </a:p>
          <a:p>
            <a:r>
              <a:rPr lang="en-US" dirty="0"/>
              <a:t>For example, a university’s DID Document can provide the public key needed to verify its digital signature.</a:t>
            </a:r>
          </a:p>
          <a:p>
            <a:r>
              <a:rPr lang="en-US" dirty="0"/>
              <a:t>The DID is </a:t>
            </a:r>
            <a:r>
              <a:rPr lang="en-US" b="1" dirty="0"/>
              <a:t>resolved</a:t>
            </a:r>
            <a:r>
              <a:rPr lang="en-US" dirty="0"/>
              <a:t> to obtain its DID Document. Importantly, this does </a:t>
            </a:r>
            <a:r>
              <a:rPr lang="en-US" b="1" dirty="0"/>
              <a:t>not always require a blockchain</a:t>
            </a:r>
            <a:r>
              <a:rPr lang="en-US" dirty="0"/>
              <a:t>; it depends on the DID method.</a:t>
            </a:r>
          </a:p>
          <a:p>
            <a:r>
              <a:rPr lang="en-US" dirty="0"/>
              <a:t>So simply: </a:t>
            </a:r>
            <a:r>
              <a:rPr lang="en-US" b="1" dirty="0"/>
              <a:t>DID is the identifier, while the DID Document provides its verification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 how is a Verifiable Credential issued?</a:t>
            </a:r>
            <a:endParaRPr lang="en-US" dirty="0"/>
          </a:p>
          <a:p>
            <a:r>
              <a:rPr lang="en-US" dirty="0"/>
              <a:t>First, the university verifies the student’s identity and creates a digital credential containing information such as the student’s identity, degree, and issue date.</a:t>
            </a:r>
          </a:p>
          <a:p>
            <a:endParaRPr lang="en-US" dirty="0"/>
          </a:p>
          <a:p>
            <a:r>
              <a:rPr lang="en-US" dirty="0"/>
              <a:t>The university then digitally signs the credential and gives it to the student. The signature confirms </a:t>
            </a:r>
            <a:r>
              <a:rPr lang="en-US" b="1" dirty="0"/>
              <a:t>who issued it and that the information has not been changed</a:t>
            </a:r>
            <a:r>
              <a:rPr lang="en-US" dirty="0"/>
              <a:t>.</a:t>
            </a:r>
          </a:p>
          <a:p>
            <a:r>
              <a:rPr lang="en-US" dirty="0"/>
              <a:t>Finally, the student stores the credential in their digital wallet and can use it later to prove their degree.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Verifiable Credential, or VC, is what I receive from an issuer. For example, a university gives me a digital degree.</a:t>
            </a:r>
          </a:p>
          <a:p>
            <a:endParaRPr lang="en-US" dirty="0"/>
          </a:p>
          <a:p>
            <a:r>
              <a:rPr lang="en-US" b="1" dirty="0"/>
              <a:t>A Verifiable Presentation, or VP, is what I present to a verifier, such as an employer, when I need to prove my qualification.</a:t>
            </a:r>
            <a:endParaRPr lang="en-US" dirty="0"/>
          </a:p>
          <a:p>
            <a:r>
              <a:rPr lang="en-US" b="1" dirty="0"/>
              <a:t>So, simply: VC is what I receive, and VP is what I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where blockchain can be used in SSI. Blockchain is not required for every SSI system, but it can be useful in some cases. </a:t>
            </a:r>
          </a:p>
          <a:p>
            <a:endParaRPr lang="en-US" dirty="0"/>
          </a:p>
          <a:p>
            <a:r>
              <a:rPr lang="en-US" dirty="0"/>
              <a:t>First, it can work as a public and shared registry where we can store information needed for verification, such as DID-related information, public keys, or credential status. </a:t>
            </a:r>
          </a:p>
          <a:p>
            <a:endParaRPr lang="en-US" dirty="0"/>
          </a:p>
          <a:p>
            <a:r>
              <a:rPr lang="en-US" dirty="0"/>
              <a:t>Second, blockchain provides tamper evidence, which means it is very difficult to change old information without being detected. </a:t>
            </a:r>
          </a:p>
          <a:p>
            <a:endParaRPr lang="en-US" dirty="0"/>
          </a:p>
          <a:p>
            <a:r>
              <a:rPr lang="en-US" dirty="0"/>
              <a:t>However, we should not store sensitive personal information, such as a person’s full degree, passport, or private details, directly on a public blockchain. </a:t>
            </a:r>
          </a:p>
          <a:p>
            <a:endParaRPr lang="en-US" dirty="0"/>
          </a:p>
          <a:p>
            <a:r>
              <a:rPr lang="en-US" dirty="0"/>
              <a:t>The main idea is simple: keep only the information needed for public verification on the blockchain, and keep personal data off-chain whenever possible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main security and privacy benefits of SSI. </a:t>
            </a:r>
          </a:p>
          <a:p>
            <a:endParaRPr lang="en-US" dirty="0"/>
          </a:p>
          <a:p>
            <a:r>
              <a:rPr lang="en-US" dirty="0"/>
              <a:t>First is user control, which means users can keep and manage their own credentials instead of depending completely on one organization. </a:t>
            </a:r>
          </a:p>
          <a:p>
            <a:endParaRPr lang="en-US" dirty="0"/>
          </a:p>
          <a:p>
            <a:r>
              <a:rPr lang="en-US" dirty="0"/>
              <a:t>Second is cryptographic verification. Digital signatures allow us to check that a credential is genuine and has not been changed. </a:t>
            </a:r>
          </a:p>
          <a:p>
            <a:endParaRPr lang="en-US" dirty="0"/>
          </a:p>
          <a:p>
            <a:r>
              <a:rPr lang="en-US" dirty="0"/>
              <a:t>Third is data minimization, which means we should share only the information that is actually needed. For example, if someone only needs to know whether I am over 18, I may be able to prove that without sharing my full date of birth. </a:t>
            </a:r>
          </a:p>
          <a:p>
            <a:endParaRPr lang="en-US" dirty="0"/>
          </a:p>
          <a:p>
            <a:r>
              <a:rPr lang="en-US" dirty="0"/>
              <a:t>So overall, SSI gives users more control, improves verification, and can reduce unnecessary sharing of personal information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some challenges and limitations of SSI. </a:t>
            </a:r>
          </a:p>
          <a:p>
            <a:endParaRPr lang="en-US" dirty="0"/>
          </a:p>
          <a:p>
            <a:r>
              <a:rPr lang="en-US" dirty="0"/>
              <a:t>First is key management. Because users control their identity, they also need to keep their private keys safe. If a key is lost or stolen, there must be a secure way to recover or replace it. </a:t>
            </a:r>
          </a:p>
          <a:p>
            <a:endParaRPr lang="en-US" dirty="0"/>
          </a:p>
          <a:p>
            <a:r>
              <a:rPr lang="en-US" dirty="0"/>
              <a:t>Second is issuer trust. A digital signature can prove who issued a credential, but it cannot prove that the issuer is trustworthy. </a:t>
            </a:r>
          </a:p>
          <a:p>
            <a:endParaRPr lang="en-US" dirty="0"/>
          </a:p>
          <a:p>
            <a:r>
              <a:rPr lang="en-US" dirty="0"/>
              <a:t>Adoption means that enough organizations need to accept and use SSI. Interoperability means that different SSI systems need to work together. For example, if a university issues a credential using one system, another wallet should be able to store it and an employer using a different system should still be able to verify it. For this, they need to follow compatible standards.</a:t>
            </a:r>
            <a:br>
              <a:rPr lang="en-US" dirty="0"/>
            </a:br>
            <a:endParaRPr lang="en-US" dirty="0"/>
          </a:p>
          <a:p>
            <a:r>
              <a:rPr lang="en-US" dirty="0"/>
              <a:t>Finally, there are legal and governance challenges, such as what happens when a credential is revoked, who is responsible if something goes wrong, and how different countries handle privacy and digital credentials. So, SSI gives users more control, but it also gives users and organizations more responsibility.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a:t>
            </a:r>
            <a:r>
              <a:rPr lang="en-US" b="1" dirty="0"/>
              <a:t>centralized system</a:t>
            </a:r>
            <a:r>
              <a:rPr lang="en-US" dirty="0"/>
              <a:t>, one organization controls and stores our identity information. It is simple to manage, but if that system fails, users can be affected. </a:t>
            </a:r>
          </a:p>
          <a:p>
            <a:endParaRPr lang="en-US" dirty="0"/>
          </a:p>
          <a:p>
            <a:r>
              <a:rPr lang="en-US" dirty="0"/>
              <a:t>In a </a:t>
            </a:r>
            <a:r>
              <a:rPr lang="en-US" b="1" dirty="0"/>
              <a:t>federated system</a:t>
            </a:r>
            <a:r>
              <a:rPr lang="en-US" dirty="0"/>
              <a:t>, one identity provider can be used to log in to different services, for example, </a:t>
            </a:r>
            <a:r>
              <a:rPr lang="en-US" b="1" dirty="0"/>
              <a:t>“Sign in with Google.”</a:t>
            </a:r>
            <a:r>
              <a:rPr lang="en-US" dirty="0"/>
              <a:t> It is convenient, but we still depend on that identity provider. </a:t>
            </a:r>
          </a:p>
          <a:p>
            <a:endParaRPr lang="en-US" dirty="0"/>
          </a:p>
          <a:p>
            <a:r>
              <a:rPr lang="en-US" dirty="0"/>
              <a:t>In </a:t>
            </a:r>
            <a:r>
              <a:rPr lang="en-US" b="1" dirty="0"/>
              <a:t>SSI</a:t>
            </a:r>
            <a:r>
              <a:rPr lang="en-US" dirty="0"/>
              <a:t>, the user has more control. The user can keep credentials in their own digital wallet and present them when needed. SSI gives more control and portability, but managing keys and making different systems work together can be more difficult.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To conclude, </a:t>
            </a:r>
            <a:br>
              <a:rPr lang="en-US" b="1" dirty="0"/>
            </a:br>
            <a:r>
              <a:rPr lang="en-US" b="1" dirty="0"/>
              <a:t>SSI gives users greater control over their digital credentials, but trusted issuers are still important.</a:t>
            </a:r>
            <a:endParaRPr lang="en-US" dirty="0"/>
          </a:p>
          <a:p>
            <a:r>
              <a:rPr lang="en-US" b="1" dirty="0"/>
              <a:t>DIDs</a:t>
            </a:r>
            <a:r>
              <a:rPr lang="en-US" dirty="0"/>
              <a:t> provide decentralized identifiers, and how they are resolved depends on the DID method.</a:t>
            </a:r>
          </a:p>
          <a:p>
            <a:r>
              <a:rPr lang="en-US" b="1" dirty="0"/>
              <a:t>VCs</a:t>
            </a:r>
            <a:r>
              <a:rPr lang="en-US" dirty="0"/>
              <a:t> are digitally signed credentials, while </a:t>
            </a:r>
            <a:r>
              <a:rPr lang="en-US" b="1" dirty="0"/>
              <a:t>VPs</a:t>
            </a:r>
            <a:r>
              <a:rPr lang="en-US" dirty="0"/>
              <a:t> are what users present to verifiers as proof.</a:t>
            </a:r>
          </a:p>
          <a:p>
            <a:r>
              <a:rPr lang="en-US" dirty="0"/>
              <a:t>Blockchain can support SSI, but it is </a:t>
            </a:r>
            <a:r>
              <a:rPr lang="en-US" b="1" dirty="0"/>
              <a:t>not required for every SSI system</a:t>
            </a:r>
            <a:r>
              <a:rPr lang="en-US" dirty="0"/>
              <a:t>.</a:t>
            </a:r>
          </a:p>
          <a:p>
            <a:r>
              <a:rPr lang="en-US" dirty="0"/>
              <a:t>Finally, SSI security depends on </a:t>
            </a:r>
            <a:r>
              <a:rPr lang="en-US" b="1" dirty="0"/>
              <a:t>cryptography, key management, governance, and adoption</a:t>
            </a:r>
            <a:r>
              <a:rPr lang="en-US" dirty="0"/>
              <a:t>, not only on blockchain.</a:t>
            </a:r>
          </a:p>
          <a:p>
            <a:r>
              <a:rPr lang="en-US" dirty="0"/>
              <a:t>The basic SSI relationship is: </a:t>
            </a:r>
            <a:r>
              <a:rPr lang="en-US" b="1" dirty="0"/>
              <a:t>Issuer, Holder, and Verifier.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BD09A-324F-C1DC-1A3E-6F69D7F5BE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B0B15D-ADA9-E66F-B706-C167C04B64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199170-19D4-CBBF-4FAC-BCC8167811C1}"/>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5" name="Footer Placeholder 4">
            <a:extLst>
              <a:ext uri="{FF2B5EF4-FFF2-40B4-BE49-F238E27FC236}">
                <a16:creationId xmlns:a16="http://schemas.microsoft.com/office/drawing/2014/main" id="{A5ED9D4E-DFFB-730F-AA71-5AA692FB19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BF887F-8107-5F8B-D57A-35435D156456}"/>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3208770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449EF-283E-F270-EBDE-B2827C52D3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308B7B-D1D0-4A56-7262-E14D9C47C0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85A9A-9ED5-DADF-AE1B-7BCBE9ABFC07}"/>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5" name="Footer Placeholder 4">
            <a:extLst>
              <a:ext uri="{FF2B5EF4-FFF2-40B4-BE49-F238E27FC236}">
                <a16:creationId xmlns:a16="http://schemas.microsoft.com/office/drawing/2014/main" id="{8E40FA99-4869-85CA-3457-33927DC293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F89FE-C714-35B9-2BBA-C83B5C5F4E55}"/>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2696598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4891B-0972-081E-E8B8-1E5284E2E0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1B999A-A085-9E9B-6A47-679411BB4D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CF8BC9-77A5-4415-C8D7-7D39BE9EC896}"/>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5" name="Footer Placeholder 4">
            <a:extLst>
              <a:ext uri="{FF2B5EF4-FFF2-40B4-BE49-F238E27FC236}">
                <a16:creationId xmlns:a16="http://schemas.microsoft.com/office/drawing/2014/main" id="{3D1694F9-A256-AA60-DF58-EE2E3919E9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0F5F63-F630-3EF8-9572-94BA06D12B0E}"/>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3276935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FE79D-984C-64F6-C17C-AD5C5143A5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EED396-481A-9025-BC48-0A7E1C773F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3C5BD4-A772-D600-C809-1E669C0B63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1926A6-51AC-2FFD-F15E-CEA4360E7F0E}"/>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6" name="Footer Placeholder 5">
            <a:extLst>
              <a:ext uri="{FF2B5EF4-FFF2-40B4-BE49-F238E27FC236}">
                <a16:creationId xmlns:a16="http://schemas.microsoft.com/office/drawing/2014/main" id="{6633AA8E-368D-4D1D-0D37-763FE0578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E5AF6-8630-16D7-55E9-101C8C49930F}"/>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4017498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0F8BB-0151-DE1C-22CF-BC0BDC3742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651B06-EF66-A69D-922C-734D59BEB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A1D0C9-9622-EC85-0ADA-5739D17529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EB827F-4D98-0249-36B6-18E5D978DD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C39746-8B9B-B5B1-499A-A4366E99BC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0E3A1C-C9F3-CD15-F037-3F19084BB0F7}"/>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8" name="Footer Placeholder 7">
            <a:extLst>
              <a:ext uri="{FF2B5EF4-FFF2-40B4-BE49-F238E27FC236}">
                <a16:creationId xmlns:a16="http://schemas.microsoft.com/office/drawing/2014/main" id="{4A5A3919-CDBE-9FE4-24FA-F06EBAB5FC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2E771C-8E2D-30CF-C7A0-E35A25621EF9}"/>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3032253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8B15C-F2EE-C57D-4865-27529B2AFA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275725-3471-2732-A5E9-16D9075B9788}"/>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4" name="Footer Placeholder 3">
            <a:extLst>
              <a:ext uri="{FF2B5EF4-FFF2-40B4-BE49-F238E27FC236}">
                <a16:creationId xmlns:a16="http://schemas.microsoft.com/office/drawing/2014/main" id="{8E4BDEA9-545A-A195-92E4-2EEB2D267E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F0CD4E-AFDD-7C32-2EB3-7639AD99588D}"/>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2360609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DC67DF-7A6E-12DB-E7CF-448C8562BBE1}"/>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3" name="Footer Placeholder 2">
            <a:extLst>
              <a:ext uri="{FF2B5EF4-FFF2-40B4-BE49-F238E27FC236}">
                <a16:creationId xmlns:a16="http://schemas.microsoft.com/office/drawing/2014/main" id="{B1581B03-3356-292A-E1DA-C7041DD683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A0ED5D-1082-2498-DE7F-288F4221A1B6}"/>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1158178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58BF8-F7F5-9F15-2EBB-274020B1E7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414A1F-3050-EE8F-BF0D-ED47A00316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FF83F5-7015-53A1-5848-6A1637DFF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0DB9F9-6AB0-041F-D859-47C68D6637EB}"/>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6" name="Footer Placeholder 5">
            <a:extLst>
              <a:ext uri="{FF2B5EF4-FFF2-40B4-BE49-F238E27FC236}">
                <a16:creationId xmlns:a16="http://schemas.microsoft.com/office/drawing/2014/main" id="{33AC18C1-3DA4-5BE1-1390-76754CE128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3C8C12-AC9F-06C2-97EC-71D28BD3C17E}"/>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611749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BB9D-43CE-18AF-7ECC-A3F9C61E34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9583BB-834C-845C-D93A-7716F9BAEF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66C2F2-A7D6-8737-D456-8DC7A33E95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0DB293-9C51-38F5-D6D8-403793357FF8}"/>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6" name="Footer Placeholder 5">
            <a:extLst>
              <a:ext uri="{FF2B5EF4-FFF2-40B4-BE49-F238E27FC236}">
                <a16:creationId xmlns:a16="http://schemas.microsoft.com/office/drawing/2014/main" id="{5C520825-2C92-71DC-62B0-5AC2DAB577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952C62-077D-48AE-1765-EDD437F9270E}"/>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2390012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3B9C-1ADE-48E5-2691-8B1D90BD9A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68A8FF-0C85-CA7D-AADC-F14EFE9669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AC1A96-6100-B91E-47DF-5156D60F5307}"/>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5" name="Footer Placeholder 4">
            <a:extLst>
              <a:ext uri="{FF2B5EF4-FFF2-40B4-BE49-F238E27FC236}">
                <a16:creationId xmlns:a16="http://schemas.microsoft.com/office/drawing/2014/main" id="{FB790153-EBBF-51A0-3546-961D95D42B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2BFA7-5EC3-161C-8C60-BAEDBFC71EC9}"/>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1725569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29F3A0-C67E-0368-8702-11E1FA3D22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271AD1-AE7C-EF3B-E8EB-297BABC38B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1C39DA-37E2-8078-39F3-3E496BA4BC3A}"/>
              </a:ext>
            </a:extLst>
          </p:cNvPr>
          <p:cNvSpPr>
            <a:spLocks noGrp="1"/>
          </p:cNvSpPr>
          <p:nvPr>
            <p:ph type="dt" sz="half" idx="10"/>
          </p:nvPr>
        </p:nvSpPr>
        <p:spPr/>
        <p:txBody>
          <a:bodyPr/>
          <a:lstStyle/>
          <a:p>
            <a:fld id="{E8AC26C1-C429-4FED-9F99-1E6846EF85F4}" type="datetimeFigureOut">
              <a:rPr lang="en-US" smtClean="0"/>
              <a:t>9/28/2026</a:t>
            </a:fld>
            <a:endParaRPr lang="en-US"/>
          </a:p>
        </p:txBody>
      </p:sp>
      <p:sp>
        <p:nvSpPr>
          <p:cNvPr id="5" name="Footer Placeholder 4">
            <a:extLst>
              <a:ext uri="{FF2B5EF4-FFF2-40B4-BE49-F238E27FC236}">
                <a16:creationId xmlns:a16="http://schemas.microsoft.com/office/drawing/2014/main" id="{C06D9BAD-204B-71A7-7241-6ADB2D643C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0F13CA-C7D8-D771-6480-6DE13834DB4A}"/>
              </a:ext>
            </a:extLst>
          </p:cNvPr>
          <p:cNvSpPr>
            <a:spLocks noGrp="1"/>
          </p:cNvSpPr>
          <p:nvPr>
            <p:ph type="sldNum" sz="quarter" idx="12"/>
          </p:nvPr>
        </p:nvSpPr>
        <p:spPr/>
        <p:txBody>
          <a:bodyPr/>
          <a:lstStyle/>
          <a:p>
            <a:fld id="{3F7EE5F4-1983-43A7-B50A-25A80003226C}" type="slidenum">
              <a:rPr lang="en-US" smtClean="0"/>
              <a:t>‹#›</a:t>
            </a:fld>
            <a:endParaRPr lang="en-US"/>
          </a:p>
        </p:txBody>
      </p:sp>
    </p:spTree>
    <p:extLst>
      <p:ext uri="{BB962C8B-B14F-4D97-AF65-F5344CB8AC3E}">
        <p14:creationId xmlns:p14="http://schemas.microsoft.com/office/powerpoint/2010/main" val="230611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2D6A6A"/>
          </a:solidFill>
          <a:ln w="12700">
            <a:solidFill>
              <a:srgbClr val="2D6A6A"/>
            </a:solidFill>
            <a:prstDash val="solid"/>
          </a:ln>
        </p:spPr>
      </p:sp>
      <p:sp>
        <p:nvSpPr>
          <p:cNvPr id="3" name="Text 1"/>
          <p:cNvSpPr/>
          <p:nvPr/>
        </p:nvSpPr>
        <p:spPr>
          <a:xfrm>
            <a:off x="502920" y="6510528"/>
            <a:ext cx="3200400" cy="164592"/>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SELF-SOVEREIGN IDENTITY</a:t>
            </a:r>
            <a:endParaRPr lang="en-US" sz="800" dirty="0"/>
          </a:p>
        </p:txBody>
      </p:sp>
      <p:sp>
        <p:nvSpPr>
          <p:cNvPr id="4" name="Text 2"/>
          <p:cNvSpPr/>
          <p:nvPr/>
        </p:nvSpPr>
        <p:spPr>
          <a:xfrm>
            <a:off x="9784080" y="6510528"/>
            <a:ext cx="1828800" cy="164592"/>
          </a:xfrm>
          <a:prstGeom prst="rect">
            <a:avLst/>
          </a:prstGeom>
          <a:noFill/>
          <a:ln/>
        </p:spPr>
        <p:txBody>
          <a:bodyPr wrap="square" lIns="0" tIns="0" rIns="0" bIns="0" rtlCol="0" anchor="ctr"/>
          <a:lstStyle/>
          <a:p>
            <a:pPr marL="0" indent="0" algn="r">
              <a:buNone/>
            </a:pPr>
            <a:r>
              <a:rPr lang="en-US" sz="800" dirty="0">
                <a:solidFill>
                  <a:srgbClr val="6B7280"/>
                </a:solidFill>
                <a:latin typeface="Aptos" pitchFamily="34" charset="0"/>
                <a:ea typeface="Aptos" pitchFamily="34" charset="-122"/>
                <a:cs typeface="Aptos" pitchFamily="34" charset="-120"/>
              </a:rPr>
              <a:t>FAZEEL AHMED</a:t>
            </a:r>
            <a:endParaRPr lang="en-US" sz="8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863884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EE2C8F-5149-5C07-DBCC-9D44005020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5D342B-280D-753F-27C4-8CB803180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FB238-D085-92F0-90B1-FBD4CAC746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AC26C1-C429-4FED-9F99-1E6846EF85F4}" type="datetimeFigureOut">
              <a:rPr lang="en-US" smtClean="0"/>
              <a:t>9/28/2026</a:t>
            </a:fld>
            <a:endParaRPr lang="en-US"/>
          </a:p>
        </p:txBody>
      </p:sp>
      <p:sp>
        <p:nvSpPr>
          <p:cNvPr id="5" name="Footer Placeholder 4">
            <a:extLst>
              <a:ext uri="{FF2B5EF4-FFF2-40B4-BE49-F238E27FC236}">
                <a16:creationId xmlns:a16="http://schemas.microsoft.com/office/drawing/2014/main" id="{FF83F236-9639-EA22-4F44-0837EAEA47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03401D-B33B-B35A-427F-C8747E4F9B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7EE5F4-1983-43A7-B50A-25A80003226C}" type="slidenum">
              <a:rPr lang="en-US" smtClean="0"/>
              <a:t>‹#›</a:t>
            </a:fld>
            <a:endParaRPr lang="en-US"/>
          </a:p>
        </p:txBody>
      </p:sp>
    </p:spTree>
    <p:extLst>
      <p:ext uri="{BB962C8B-B14F-4D97-AF65-F5344CB8AC3E}">
        <p14:creationId xmlns:p14="http://schemas.microsoft.com/office/powerpoint/2010/main" val="14600935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731520"/>
            <a:ext cx="1051560" cy="411480"/>
          </a:xfrm>
          <a:prstGeom prst="roundRect">
            <a:avLst/>
          </a:prstGeom>
          <a:solidFill>
            <a:srgbClr val="DCEDEC"/>
          </a:solidFill>
          <a:ln w="12700">
            <a:solidFill>
              <a:srgbClr val="DCEDEC"/>
            </a:solidFill>
            <a:prstDash val="solid"/>
          </a:ln>
        </p:spPr>
        <p:txBody>
          <a:bodyPr/>
          <a:lstStyle/>
          <a:p>
            <a:endParaRPr lang="en-US"/>
          </a:p>
        </p:txBody>
      </p:sp>
      <p:sp>
        <p:nvSpPr>
          <p:cNvPr id="3" name="Text 1"/>
          <p:cNvSpPr/>
          <p:nvPr/>
        </p:nvSpPr>
        <p:spPr>
          <a:xfrm>
            <a:off x="804672" y="859536"/>
            <a:ext cx="731520" cy="128016"/>
          </a:xfrm>
          <a:prstGeom prst="rect">
            <a:avLst/>
          </a:prstGeom>
          <a:noFill/>
          <a:ln/>
        </p:spPr>
        <p:txBody>
          <a:bodyPr wrap="square" lIns="0" tIns="0" rIns="0" bIns="0" rtlCol="0" anchor="ctr"/>
          <a:lstStyle/>
          <a:p>
            <a:pPr marL="0" indent="0" algn="ctr">
              <a:buNone/>
            </a:pPr>
            <a:r>
              <a:rPr lang="en-US" sz="1000" b="1" dirty="0">
                <a:solidFill>
                  <a:srgbClr val="2D6A6A"/>
                </a:solidFill>
              </a:rPr>
              <a:t>SEMINAR</a:t>
            </a:r>
            <a:endParaRPr lang="en-US" sz="1000" dirty="0"/>
          </a:p>
        </p:txBody>
      </p:sp>
      <p:sp>
        <p:nvSpPr>
          <p:cNvPr id="4" name="Text 2"/>
          <p:cNvSpPr/>
          <p:nvPr/>
        </p:nvSpPr>
        <p:spPr>
          <a:xfrm>
            <a:off x="658368" y="1508760"/>
            <a:ext cx="6583680" cy="1508760"/>
          </a:xfrm>
          <a:prstGeom prst="rect">
            <a:avLst/>
          </a:prstGeom>
          <a:noFill/>
          <a:ln/>
        </p:spPr>
        <p:txBody>
          <a:bodyPr wrap="square" lIns="0" tIns="0" rIns="0" bIns="0" rtlCol="0" anchor="ctr"/>
          <a:lstStyle/>
          <a:p>
            <a:pPr marL="0" indent="0">
              <a:buNone/>
            </a:pPr>
            <a:r>
              <a:rPr lang="en-US" sz="4200" b="1" dirty="0">
                <a:solidFill>
                  <a:srgbClr val="16324F"/>
                </a:solidFill>
              </a:rPr>
              <a:t>Self-Sovereign</a:t>
            </a:r>
            <a:endParaRPr lang="en-US" sz="4200" dirty="0"/>
          </a:p>
          <a:p>
            <a:pPr marL="0" indent="0">
              <a:buNone/>
            </a:pPr>
            <a:r>
              <a:rPr lang="en-US" sz="4200" b="1" dirty="0">
                <a:solidFill>
                  <a:srgbClr val="16324F"/>
                </a:solidFill>
              </a:rPr>
              <a:t>Identity (SSI)</a:t>
            </a:r>
            <a:endParaRPr lang="en-US" sz="4200" dirty="0"/>
          </a:p>
        </p:txBody>
      </p:sp>
      <p:sp>
        <p:nvSpPr>
          <p:cNvPr id="5" name="Text 3"/>
          <p:cNvSpPr/>
          <p:nvPr/>
        </p:nvSpPr>
        <p:spPr>
          <a:xfrm>
            <a:off x="685800" y="3246120"/>
            <a:ext cx="6492240" cy="822960"/>
          </a:xfrm>
          <a:prstGeom prst="rect">
            <a:avLst/>
          </a:prstGeom>
          <a:noFill/>
          <a:ln/>
        </p:spPr>
        <p:txBody>
          <a:bodyPr wrap="square" lIns="0" tIns="0" rIns="0" bIns="0" rtlCol="0" anchor="ctr"/>
          <a:lstStyle/>
          <a:p>
            <a:pPr marL="0" indent="0">
              <a:buNone/>
            </a:pPr>
            <a:r>
              <a:rPr lang="en-US" sz="1900" dirty="0">
                <a:solidFill>
                  <a:srgbClr val="64748B"/>
                </a:solidFill>
              </a:rPr>
              <a:t>Decentralized identity, DIDs, Verifiable Credentials,</a:t>
            </a:r>
            <a:endParaRPr lang="en-US" sz="1900" dirty="0"/>
          </a:p>
          <a:p>
            <a:pPr marL="0" indent="0">
              <a:buNone/>
            </a:pPr>
            <a:r>
              <a:rPr lang="en-US" sz="1900" dirty="0">
                <a:solidFill>
                  <a:srgbClr val="64748B"/>
                </a:solidFill>
              </a:rPr>
              <a:t>and the security trade-offs behind user-controlled identity.</a:t>
            </a:r>
            <a:endParaRPr lang="en-US" sz="1900" dirty="0"/>
          </a:p>
        </p:txBody>
      </p:sp>
      <p:sp>
        <p:nvSpPr>
          <p:cNvPr id="6" name="Shape 4"/>
          <p:cNvSpPr/>
          <p:nvPr/>
        </p:nvSpPr>
        <p:spPr>
          <a:xfrm>
            <a:off x="8229600" y="1463040"/>
            <a:ext cx="1463040" cy="0"/>
          </a:xfrm>
          <a:prstGeom prst="line">
            <a:avLst/>
          </a:prstGeom>
          <a:noFill/>
          <a:ln w="19050">
            <a:solidFill>
              <a:srgbClr val="9CC3C1"/>
            </a:solidFill>
            <a:prstDash val="solid"/>
          </a:ln>
        </p:spPr>
        <p:txBody>
          <a:bodyPr/>
          <a:lstStyle/>
          <a:p>
            <a:endParaRPr lang="en-US"/>
          </a:p>
        </p:txBody>
      </p:sp>
      <p:sp>
        <p:nvSpPr>
          <p:cNvPr id="7" name="Shape 5"/>
          <p:cNvSpPr/>
          <p:nvPr/>
        </p:nvSpPr>
        <p:spPr>
          <a:xfrm>
            <a:off x="9692640" y="1005840"/>
            <a:ext cx="914400" cy="1188720"/>
          </a:xfrm>
          <a:prstGeom prst="line">
            <a:avLst/>
          </a:prstGeom>
          <a:noFill/>
          <a:ln w="19050">
            <a:solidFill>
              <a:srgbClr val="9CC3C1"/>
            </a:solidFill>
            <a:prstDash val="solid"/>
          </a:ln>
        </p:spPr>
        <p:txBody>
          <a:bodyPr/>
          <a:lstStyle/>
          <a:p>
            <a:endParaRPr lang="en-US"/>
          </a:p>
        </p:txBody>
      </p:sp>
      <p:sp>
        <p:nvSpPr>
          <p:cNvPr id="8" name="Shape 6"/>
          <p:cNvSpPr/>
          <p:nvPr/>
        </p:nvSpPr>
        <p:spPr>
          <a:xfrm>
            <a:off x="8229600" y="1463040"/>
            <a:ext cx="731520" cy="1280160"/>
          </a:xfrm>
          <a:prstGeom prst="line">
            <a:avLst/>
          </a:prstGeom>
          <a:noFill/>
          <a:ln w="19050">
            <a:solidFill>
              <a:srgbClr val="9CC3C1"/>
            </a:solidFill>
            <a:prstDash val="solid"/>
          </a:ln>
        </p:spPr>
        <p:txBody>
          <a:bodyPr/>
          <a:lstStyle/>
          <a:p>
            <a:endParaRPr lang="en-US"/>
          </a:p>
        </p:txBody>
      </p:sp>
      <p:sp>
        <p:nvSpPr>
          <p:cNvPr id="9" name="Shape 7"/>
          <p:cNvSpPr/>
          <p:nvPr/>
        </p:nvSpPr>
        <p:spPr>
          <a:xfrm>
            <a:off x="8961120" y="2743200"/>
            <a:ext cx="1645920" cy="0"/>
          </a:xfrm>
          <a:prstGeom prst="line">
            <a:avLst/>
          </a:prstGeom>
          <a:noFill/>
          <a:ln w="19050">
            <a:solidFill>
              <a:srgbClr val="9CC3C1"/>
            </a:solidFill>
            <a:prstDash val="solid"/>
          </a:ln>
        </p:spPr>
        <p:txBody>
          <a:bodyPr/>
          <a:lstStyle/>
          <a:p>
            <a:endParaRPr lang="en-US"/>
          </a:p>
        </p:txBody>
      </p:sp>
      <p:sp>
        <p:nvSpPr>
          <p:cNvPr id="10" name="Shape 8"/>
          <p:cNvSpPr/>
          <p:nvPr/>
        </p:nvSpPr>
        <p:spPr>
          <a:xfrm>
            <a:off x="8961120" y="2743200"/>
            <a:ext cx="1280160" cy="1005840"/>
          </a:xfrm>
          <a:prstGeom prst="line">
            <a:avLst/>
          </a:prstGeom>
          <a:noFill/>
          <a:ln w="19050">
            <a:solidFill>
              <a:srgbClr val="9CC3C1"/>
            </a:solidFill>
            <a:prstDash val="solid"/>
          </a:ln>
        </p:spPr>
        <p:txBody>
          <a:bodyPr/>
          <a:lstStyle/>
          <a:p>
            <a:endParaRPr lang="en-US"/>
          </a:p>
        </p:txBody>
      </p:sp>
      <p:sp>
        <p:nvSpPr>
          <p:cNvPr id="11" name="Shape 9"/>
          <p:cNvSpPr/>
          <p:nvPr/>
        </p:nvSpPr>
        <p:spPr>
          <a:xfrm>
            <a:off x="8961120" y="2743200"/>
            <a:ext cx="0" cy="1463040"/>
          </a:xfrm>
          <a:prstGeom prst="line">
            <a:avLst/>
          </a:prstGeom>
          <a:noFill/>
          <a:ln w="19050">
            <a:solidFill>
              <a:srgbClr val="9CC3C1"/>
            </a:solidFill>
            <a:prstDash val="solid"/>
          </a:ln>
        </p:spPr>
        <p:txBody>
          <a:bodyPr/>
          <a:lstStyle/>
          <a:p>
            <a:endParaRPr lang="en-US"/>
          </a:p>
        </p:txBody>
      </p:sp>
      <p:sp>
        <p:nvSpPr>
          <p:cNvPr id="12" name="Shape 10"/>
          <p:cNvSpPr/>
          <p:nvPr/>
        </p:nvSpPr>
        <p:spPr>
          <a:xfrm>
            <a:off x="7955280" y="4206240"/>
            <a:ext cx="1188720" cy="731520"/>
          </a:xfrm>
          <a:prstGeom prst="line">
            <a:avLst/>
          </a:prstGeom>
          <a:noFill/>
          <a:ln w="19050">
            <a:solidFill>
              <a:srgbClr val="9CC3C1"/>
            </a:solidFill>
            <a:prstDash val="solid"/>
          </a:ln>
        </p:spPr>
        <p:txBody>
          <a:bodyPr/>
          <a:lstStyle/>
          <a:p>
            <a:endParaRPr lang="en-US"/>
          </a:p>
        </p:txBody>
      </p:sp>
      <p:sp>
        <p:nvSpPr>
          <p:cNvPr id="13" name="Shape 11"/>
          <p:cNvSpPr/>
          <p:nvPr/>
        </p:nvSpPr>
        <p:spPr>
          <a:xfrm>
            <a:off x="9144000" y="4937760"/>
            <a:ext cx="1097280" cy="0"/>
          </a:xfrm>
          <a:prstGeom prst="line">
            <a:avLst/>
          </a:prstGeom>
          <a:noFill/>
          <a:ln w="19050">
            <a:solidFill>
              <a:srgbClr val="9CC3C1"/>
            </a:solidFill>
            <a:prstDash val="solid"/>
          </a:ln>
        </p:spPr>
        <p:txBody>
          <a:bodyPr/>
          <a:lstStyle/>
          <a:p>
            <a:endParaRPr lang="en-US"/>
          </a:p>
        </p:txBody>
      </p:sp>
      <p:sp>
        <p:nvSpPr>
          <p:cNvPr id="14" name="Shape 12"/>
          <p:cNvSpPr/>
          <p:nvPr/>
        </p:nvSpPr>
        <p:spPr>
          <a:xfrm>
            <a:off x="10241280" y="3749040"/>
            <a:ext cx="731520" cy="1005840"/>
          </a:xfrm>
          <a:prstGeom prst="line">
            <a:avLst/>
          </a:prstGeom>
          <a:noFill/>
          <a:ln w="19050">
            <a:solidFill>
              <a:srgbClr val="9CC3C1"/>
            </a:solidFill>
            <a:prstDash val="solid"/>
          </a:ln>
        </p:spPr>
        <p:txBody>
          <a:bodyPr/>
          <a:lstStyle/>
          <a:p>
            <a:endParaRPr lang="en-US"/>
          </a:p>
        </p:txBody>
      </p:sp>
      <p:sp>
        <p:nvSpPr>
          <p:cNvPr id="15" name="Shape 13"/>
          <p:cNvSpPr/>
          <p:nvPr/>
        </p:nvSpPr>
        <p:spPr>
          <a:xfrm>
            <a:off x="8156448" y="1389888"/>
            <a:ext cx="146304" cy="146304"/>
          </a:xfrm>
          <a:prstGeom prst="ellipse">
            <a:avLst/>
          </a:prstGeom>
          <a:solidFill>
            <a:srgbClr val="2D6A6A"/>
          </a:solidFill>
          <a:ln w="12700">
            <a:solidFill>
              <a:srgbClr val="FFFFFF"/>
            </a:solidFill>
            <a:prstDash val="solid"/>
          </a:ln>
        </p:spPr>
        <p:txBody>
          <a:bodyPr/>
          <a:lstStyle/>
          <a:p>
            <a:endParaRPr lang="en-US"/>
          </a:p>
        </p:txBody>
      </p:sp>
      <p:sp>
        <p:nvSpPr>
          <p:cNvPr id="16" name="Shape 14"/>
          <p:cNvSpPr/>
          <p:nvPr/>
        </p:nvSpPr>
        <p:spPr>
          <a:xfrm>
            <a:off x="9619488" y="932688"/>
            <a:ext cx="146304" cy="146304"/>
          </a:xfrm>
          <a:prstGeom prst="ellipse">
            <a:avLst/>
          </a:prstGeom>
          <a:solidFill>
            <a:srgbClr val="2D6A6A"/>
          </a:solidFill>
          <a:ln w="12700">
            <a:solidFill>
              <a:srgbClr val="FFFFFF"/>
            </a:solidFill>
            <a:prstDash val="solid"/>
          </a:ln>
        </p:spPr>
        <p:txBody>
          <a:bodyPr/>
          <a:lstStyle/>
          <a:p>
            <a:endParaRPr lang="en-US"/>
          </a:p>
        </p:txBody>
      </p:sp>
      <p:sp>
        <p:nvSpPr>
          <p:cNvPr id="17" name="Shape 15"/>
          <p:cNvSpPr/>
          <p:nvPr/>
        </p:nvSpPr>
        <p:spPr>
          <a:xfrm>
            <a:off x="10533888" y="2121408"/>
            <a:ext cx="146304" cy="146304"/>
          </a:xfrm>
          <a:prstGeom prst="ellipse">
            <a:avLst/>
          </a:prstGeom>
          <a:solidFill>
            <a:srgbClr val="2D6A6A"/>
          </a:solidFill>
          <a:ln w="12700">
            <a:solidFill>
              <a:srgbClr val="FFFFFF"/>
            </a:solidFill>
            <a:prstDash val="solid"/>
          </a:ln>
        </p:spPr>
        <p:txBody>
          <a:bodyPr/>
          <a:lstStyle/>
          <a:p>
            <a:endParaRPr lang="en-US"/>
          </a:p>
        </p:txBody>
      </p:sp>
      <p:sp>
        <p:nvSpPr>
          <p:cNvPr id="18" name="Shape 16"/>
          <p:cNvSpPr/>
          <p:nvPr/>
        </p:nvSpPr>
        <p:spPr>
          <a:xfrm>
            <a:off x="8887968" y="2670048"/>
            <a:ext cx="146304" cy="146304"/>
          </a:xfrm>
          <a:prstGeom prst="ellipse">
            <a:avLst/>
          </a:prstGeom>
          <a:solidFill>
            <a:srgbClr val="E7A84B"/>
          </a:solidFill>
          <a:ln w="12700">
            <a:solidFill>
              <a:srgbClr val="FFFFFF"/>
            </a:solidFill>
            <a:prstDash val="solid"/>
          </a:ln>
        </p:spPr>
        <p:txBody>
          <a:bodyPr/>
          <a:lstStyle/>
          <a:p>
            <a:endParaRPr lang="en-US"/>
          </a:p>
        </p:txBody>
      </p:sp>
      <p:sp>
        <p:nvSpPr>
          <p:cNvPr id="19" name="Shape 17"/>
          <p:cNvSpPr/>
          <p:nvPr/>
        </p:nvSpPr>
        <p:spPr>
          <a:xfrm>
            <a:off x="10168128" y="3675888"/>
            <a:ext cx="146304" cy="146304"/>
          </a:xfrm>
          <a:prstGeom prst="ellipse">
            <a:avLst/>
          </a:prstGeom>
          <a:solidFill>
            <a:srgbClr val="2D6A6A"/>
          </a:solidFill>
          <a:ln w="12700">
            <a:solidFill>
              <a:srgbClr val="FFFFFF"/>
            </a:solidFill>
            <a:prstDash val="solid"/>
          </a:ln>
        </p:spPr>
        <p:txBody>
          <a:bodyPr/>
          <a:lstStyle/>
          <a:p>
            <a:endParaRPr lang="en-US"/>
          </a:p>
        </p:txBody>
      </p:sp>
      <p:sp>
        <p:nvSpPr>
          <p:cNvPr id="20" name="Shape 18"/>
          <p:cNvSpPr/>
          <p:nvPr/>
        </p:nvSpPr>
        <p:spPr>
          <a:xfrm>
            <a:off x="7882128" y="4133088"/>
            <a:ext cx="146304" cy="146304"/>
          </a:xfrm>
          <a:prstGeom prst="ellipse">
            <a:avLst/>
          </a:prstGeom>
          <a:solidFill>
            <a:srgbClr val="2D6A6A"/>
          </a:solidFill>
          <a:ln w="12700">
            <a:solidFill>
              <a:srgbClr val="FFFFFF"/>
            </a:solidFill>
            <a:prstDash val="solid"/>
          </a:ln>
        </p:spPr>
        <p:txBody>
          <a:bodyPr/>
          <a:lstStyle/>
          <a:p>
            <a:endParaRPr lang="en-US"/>
          </a:p>
        </p:txBody>
      </p:sp>
      <p:sp>
        <p:nvSpPr>
          <p:cNvPr id="21" name="Shape 19"/>
          <p:cNvSpPr/>
          <p:nvPr/>
        </p:nvSpPr>
        <p:spPr>
          <a:xfrm>
            <a:off x="9070848" y="4864608"/>
            <a:ext cx="146304" cy="146304"/>
          </a:xfrm>
          <a:prstGeom prst="ellipse">
            <a:avLst/>
          </a:prstGeom>
          <a:solidFill>
            <a:srgbClr val="2D6A6A"/>
          </a:solidFill>
          <a:ln w="12700">
            <a:solidFill>
              <a:srgbClr val="FFFFFF"/>
            </a:solidFill>
            <a:prstDash val="solid"/>
          </a:ln>
        </p:spPr>
        <p:txBody>
          <a:bodyPr/>
          <a:lstStyle/>
          <a:p>
            <a:endParaRPr lang="en-US"/>
          </a:p>
        </p:txBody>
      </p:sp>
      <p:sp>
        <p:nvSpPr>
          <p:cNvPr id="22" name="Shape 20"/>
          <p:cNvSpPr/>
          <p:nvPr/>
        </p:nvSpPr>
        <p:spPr>
          <a:xfrm>
            <a:off x="10899648" y="4681728"/>
            <a:ext cx="146304" cy="146304"/>
          </a:xfrm>
          <a:prstGeom prst="ellipse">
            <a:avLst/>
          </a:prstGeom>
          <a:solidFill>
            <a:srgbClr val="2D6A6A"/>
          </a:solidFill>
          <a:ln w="12700">
            <a:solidFill>
              <a:srgbClr val="FFFFFF"/>
            </a:solidFill>
            <a:prstDash val="solid"/>
          </a:ln>
        </p:spPr>
        <p:txBody>
          <a:bodyPr/>
          <a:lstStyle/>
          <a:p>
            <a:endParaRPr lang="en-US"/>
          </a:p>
        </p:txBody>
      </p:sp>
      <p:sp>
        <p:nvSpPr>
          <p:cNvPr id="23" name="Text 21"/>
          <p:cNvSpPr/>
          <p:nvPr/>
        </p:nvSpPr>
        <p:spPr>
          <a:xfrm>
            <a:off x="685800" y="5212080"/>
            <a:ext cx="2926080" cy="320040"/>
          </a:xfrm>
          <a:prstGeom prst="rect">
            <a:avLst/>
          </a:prstGeom>
          <a:noFill/>
          <a:ln/>
        </p:spPr>
        <p:txBody>
          <a:bodyPr wrap="square" lIns="0" tIns="0" rIns="0" bIns="0" rtlCol="0" anchor="ctr"/>
          <a:lstStyle/>
          <a:p>
            <a:pPr marL="0" indent="0">
              <a:buNone/>
            </a:pPr>
            <a:r>
              <a:rPr lang="en-US" sz="1600" b="1" dirty="0">
                <a:solidFill>
                  <a:srgbClr val="1F2937"/>
                </a:solidFill>
              </a:rPr>
              <a:t>Fazeel Ahmed</a:t>
            </a:r>
            <a:endParaRPr lang="en-US" sz="1600" dirty="0"/>
          </a:p>
        </p:txBody>
      </p:sp>
      <p:sp>
        <p:nvSpPr>
          <p:cNvPr id="24" name="Text 22"/>
          <p:cNvSpPr/>
          <p:nvPr/>
        </p:nvSpPr>
        <p:spPr>
          <a:xfrm>
            <a:off x="685800" y="5596128"/>
            <a:ext cx="4206240" cy="274320"/>
          </a:xfrm>
          <a:prstGeom prst="rect">
            <a:avLst/>
          </a:prstGeom>
          <a:noFill/>
          <a:ln/>
        </p:spPr>
        <p:txBody>
          <a:bodyPr wrap="square" lIns="0" tIns="0" rIns="0" bIns="0" rtlCol="0" anchor="ctr"/>
          <a:lstStyle/>
          <a:p>
            <a:pPr marL="0" indent="0">
              <a:buNone/>
            </a:pPr>
            <a:r>
              <a:rPr lang="en-US" sz="1200" dirty="0">
                <a:solidFill>
                  <a:srgbClr val="64748B"/>
                </a:solidFill>
              </a:rPr>
              <a:t>Decentralized Systems · University of Genoa</a:t>
            </a:r>
            <a:endParaRPr lang="en-US" sz="12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85800" y="914400"/>
            <a:ext cx="11201400" cy="1508760"/>
          </a:xfrm>
          <a:prstGeom prst="rect">
            <a:avLst/>
          </a:prstGeom>
          <a:noFill/>
          <a:ln/>
        </p:spPr>
        <p:txBody>
          <a:bodyPr wrap="square" lIns="0" tIns="0" rIns="0" bIns="0" rtlCol="0" anchor="ctr"/>
          <a:lstStyle/>
          <a:p>
            <a:pPr marL="0" indent="0">
              <a:buNone/>
            </a:pPr>
            <a:r>
              <a:rPr lang="en-US" sz="4200" b="1" dirty="0">
                <a:solidFill>
                  <a:srgbClr val="16324F"/>
                </a:solidFill>
              </a:rPr>
              <a:t>Introduction to Self-Sovereign</a:t>
            </a:r>
            <a:endParaRPr lang="en-US" sz="4200" dirty="0"/>
          </a:p>
          <a:p>
            <a:pPr marL="0" indent="0">
              <a:buNone/>
            </a:pPr>
            <a:r>
              <a:rPr lang="en-US" sz="4200" b="1" dirty="0">
                <a:solidFill>
                  <a:srgbClr val="16324F"/>
                </a:solidFill>
              </a:rPr>
              <a:t>Identity (SSI)</a:t>
            </a:r>
            <a:endParaRPr lang="en-US" sz="4200" dirty="0"/>
          </a:p>
        </p:txBody>
      </p:sp>
      <p:sp>
        <p:nvSpPr>
          <p:cNvPr id="5" name="Text 3"/>
          <p:cNvSpPr/>
          <p:nvPr/>
        </p:nvSpPr>
        <p:spPr>
          <a:xfrm>
            <a:off x="685800" y="2606040"/>
            <a:ext cx="7461504" cy="2542032"/>
          </a:xfrm>
          <a:prstGeom prst="rect">
            <a:avLst/>
          </a:prstGeom>
          <a:noFill/>
          <a:ln/>
        </p:spPr>
        <p:txBody>
          <a:bodyPr wrap="square" lIns="0" tIns="0" rIns="0" bIns="0" rtlCol="0" anchor="ctr"/>
          <a:lstStyle/>
          <a:p>
            <a:pPr marL="0" indent="0">
              <a:buNone/>
            </a:pPr>
            <a:r>
              <a:rPr lang="en-US" sz="1900" dirty="0">
                <a:solidFill>
                  <a:srgbClr val="64748B"/>
                </a:solidFill>
              </a:rPr>
              <a:t>Self-Sovereign Identity (SSI) is a digital identity system that gives users more control over their personal information. Instead of keeping all identity data with one central organization, users can manage and share their information themselves.</a:t>
            </a:r>
            <a:endParaRPr lang="en-US" sz="1900" dirty="0"/>
          </a:p>
        </p:txBody>
      </p:sp>
      <p:sp>
        <p:nvSpPr>
          <p:cNvPr id="23" name="Text 21"/>
          <p:cNvSpPr/>
          <p:nvPr/>
        </p:nvSpPr>
        <p:spPr>
          <a:xfrm>
            <a:off x="685800" y="5212080"/>
            <a:ext cx="2926080" cy="320040"/>
          </a:xfrm>
          <a:prstGeom prst="rect">
            <a:avLst/>
          </a:prstGeom>
          <a:noFill/>
          <a:ln/>
        </p:spPr>
        <p:txBody>
          <a:bodyPr wrap="square" lIns="0" tIns="0" rIns="0" bIns="0" rtlCol="0" anchor="ctr"/>
          <a:lstStyle/>
          <a:p>
            <a:pPr marL="0" indent="0">
              <a:buNone/>
            </a:pPr>
            <a:endParaRPr lang="en-US" sz="1600" dirty="0"/>
          </a:p>
        </p:txBody>
      </p:sp>
      <p:sp>
        <p:nvSpPr>
          <p:cNvPr id="24" name="Text 22"/>
          <p:cNvSpPr/>
          <p:nvPr/>
        </p:nvSpPr>
        <p:spPr>
          <a:xfrm>
            <a:off x="685800" y="5596128"/>
            <a:ext cx="4206240" cy="274320"/>
          </a:xfrm>
          <a:prstGeom prst="rect">
            <a:avLst/>
          </a:prstGeom>
          <a:noFill/>
          <a:ln/>
        </p:spPr>
        <p:txBody>
          <a:bodyPr wrap="square" lIns="0" tIns="0" rIns="0" bIns="0" rtlCol="0" anchor="ctr"/>
          <a:lstStyle/>
          <a:p>
            <a:pPr marL="0" indent="0">
              <a:buNone/>
            </a:pPr>
            <a:endParaRPr lang="en-US" sz="12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2</a:t>
            </a:fld>
            <a:endParaRPr lang="en-US"/>
          </a:p>
        </p:txBody>
      </p:sp>
    </p:spTree>
    <p:extLst>
      <p:ext uri="{BB962C8B-B14F-4D97-AF65-F5344CB8AC3E}">
        <p14:creationId xmlns:p14="http://schemas.microsoft.com/office/powerpoint/2010/main" val="3438886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Why do we need a different identity model?</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Start with the problem before the technology.</a:t>
            </a:r>
            <a:endParaRPr lang="en-US" sz="1200" dirty="0"/>
          </a:p>
        </p:txBody>
      </p:sp>
      <p:sp>
        <p:nvSpPr>
          <p:cNvPr id="4" name="Shape 2"/>
          <p:cNvSpPr/>
          <p:nvPr/>
        </p:nvSpPr>
        <p:spPr>
          <a:xfrm>
            <a:off x="731520" y="1417320"/>
            <a:ext cx="3429000" cy="338328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5" name="Shape 3"/>
          <p:cNvSpPr/>
          <p:nvPr/>
        </p:nvSpPr>
        <p:spPr>
          <a:xfrm>
            <a:off x="731520" y="1417320"/>
            <a:ext cx="73152" cy="3383280"/>
          </a:xfrm>
          <a:prstGeom prst="rect">
            <a:avLst/>
          </a:prstGeom>
          <a:solidFill>
            <a:srgbClr val="B85C5C"/>
          </a:solidFill>
          <a:ln w="12700">
            <a:solidFill>
              <a:srgbClr val="B85C5C"/>
            </a:solidFill>
            <a:prstDash val="solid"/>
          </a:ln>
        </p:spPr>
        <p:txBody>
          <a:bodyPr/>
          <a:lstStyle/>
          <a:p>
            <a:endParaRPr lang="en-US"/>
          </a:p>
        </p:txBody>
      </p:sp>
      <p:sp>
        <p:nvSpPr>
          <p:cNvPr id="6" name="Text 4"/>
          <p:cNvSpPr/>
          <p:nvPr/>
        </p:nvSpPr>
        <p:spPr>
          <a:xfrm>
            <a:off x="960120" y="1618488"/>
            <a:ext cx="3017520" cy="320040"/>
          </a:xfrm>
          <a:prstGeom prst="rect">
            <a:avLst/>
          </a:prstGeom>
          <a:noFill/>
          <a:ln/>
        </p:spPr>
        <p:txBody>
          <a:bodyPr wrap="square" lIns="0" tIns="0" rIns="0" bIns="0" rtlCol="0" anchor="ctr"/>
          <a:lstStyle/>
          <a:p>
            <a:pPr marL="0" indent="0">
              <a:buNone/>
            </a:pPr>
            <a:r>
              <a:rPr lang="en-US" sz="1700" b="1" dirty="0">
                <a:solidFill>
                  <a:srgbClr val="16324F"/>
                </a:solidFill>
              </a:rPr>
              <a:t>Centralized identity</a:t>
            </a:r>
            <a:endParaRPr lang="en-US" sz="1700" dirty="0"/>
          </a:p>
        </p:txBody>
      </p:sp>
      <p:sp>
        <p:nvSpPr>
          <p:cNvPr id="7" name="Text 5"/>
          <p:cNvSpPr/>
          <p:nvPr/>
        </p:nvSpPr>
        <p:spPr>
          <a:xfrm>
            <a:off x="960120" y="2075688"/>
            <a:ext cx="3017520" cy="2560320"/>
          </a:xfrm>
          <a:prstGeom prst="rect">
            <a:avLst/>
          </a:prstGeom>
          <a:noFill/>
          <a:ln/>
        </p:spPr>
        <p:txBody>
          <a:bodyPr wrap="square" lIns="0" tIns="0" rIns="0" bIns="0" rtlCol="0" anchor="t"/>
          <a:lstStyle/>
          <a:p>
            <a:pPr marL="0" indent="0">
              <a:buNone/>
            </a:pPr>
            <a:r>
              <a:rPr lang="en-US" sz="1350" dirty="0">
                <a:solidFill>
                  <a:srgbClr val="1F2937"/>
                </a:solidFill>
              </a:rPr>
              <a:t>Identity data is stored and controlled by one organization. A breach or outage can affect many users.</a:t>
            </a:r>
            <a:endParaRPr lang="en-US" sz="1350" dirty="0"/>
          </a:p>
        </p:txBody>
      </p:sp>
      <p:sp>
        <p:nvSpPr>
          <p:cNvPr id="8" name="Shape 6"/>
          <p:cNvSpPr/>
          <p:nvPr/>
        </p:nvSpPr>
        <p:spPr>
          <a:xfrm>
            <a:off x="4389120" y="1417320"/>
            <a:ext cx="3429000" cy="338328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9" name="Shape 7"/>
          <p:cNvSpPr/>
          <p:nvPr/>
        </p:nvSpPr>
        <p:spPr>
          <a:xfrm>
            <a:off x="4389120" y="1417320"/>
            <a:ext cx="73152" cy="3383280"/>
          </a:xfrm>
          <a:prstGeom prst="rect">
            <a:avLst/>
          </a:prstGeom>
          <a:solidFill>
            <a:srgbClr val="E7A84B"/>
          </a:solidFill>
          <a:ln w="12700">
            <a:solidFill>
              <a:srgbClr val="E7A84B"/>
            </a:solidFill>
            <a:prstDash val="solid"/>
          </a:ln>
        </p:spPr>
        <p:txBody>
          <a:bodyPr/>
          <a:lstStyle/>
          <a:p>
            <a:endParaRPr lang="en-US"/>
          </a:p>
        </p:txBody>
      </p:sp>
      <p:sp>
        <p:nvSpPr>
          <p:cNvPr id="10" name="Text 8"/>
          <p:cNvSpPr/>
          <p:nvPr/>
        </p:nvSpPr>
        <p:spPr>
          <a:xfrm>
            <a:off x="4617720" y="1618488"/>
            <a:ext cx="3017520" cy="320040"/>
          </a:xfrm>
          <a:prstGeom prst="rect">
            <a:avLst/>
          </a:prstGeom>
          <a:noFill/>
          <a:ln/>
        </p:spPr>
        <p:txBody>
          <a:bodyPr wrap="square" lIns="0" tIns="0" rIns="0" bIns="0" rtlCol="0" anchor="ctr"/>
          <a:lstStyle/>
          <a:p>
            <a:pPr marL="0" indent="0">
              <a:buNone/>
            </a:pPr>
            <a:r>
              <a:rPr lang="en-US" sz="1700" b="1" dirty="0">
                <a:solidFill>
                  <a:srgbClr val="16324F"/>
                </a:solidFill>
              </a:rPr>
              <a:t>Federated identity</a:t>
            </a:r>
            <a:endParaRPr lang="en-US" sz="1700" dirty="0"/>
          </a:p>
        </p:txBody>
      </p:sp>
      <p:sp>
        <p:nvSpPr>
          <p:cNvPr id="11" name="Text 9"/>
          <p:cNvSpPr/>
          <p:nvPr/>
        </p:nvSpPr>
        <p:spPr>
          <a:xfrm>
            <a:off x="4617720" y="2075688"/>
            <a:ext cx="3017520" cy="2560320"/>
          </a:xfrm>
          <a:prstGeom prst="rect">
            <a:avLst/>
          </a:prstGeom>
          <a:noFill/>
          <a:ln/>
        </p:spPr>
        <p:txBody>
          <a:bodyPr wrap="square" lIns="0" tIns="0" rIns="0" bIns="0" rtlCol="0" anchor="t"/>
          <a:lstStyle/>
          <a:p>
            <a:pPr marL="0" indent="0">
              <a:buNone/>
            </a:pPr>
            <a:r>
              <a:rPr lang="en-US" sz="1350" dirty="0">
                <a:solidFill>
                  <a:srgbClr val="1F2937"/>
                </a:solidFill>
              </a:rPr>
              <a:t>A third-party identity provider enables sign-in across services, such as Single Sign-On.</a:t>
            </a:r>
            <a:endParaRPr lang="en-US" sz="1350" dirty="0"/>
          </a:p>
        </p:txBody>
      </p:sp>
      <p:sp>
        <p:nvSpPr>
          <p:cNvPr id="12" name="Shape 10"/>
          <p:cNvSpPr/>
          <p:nvPr/>
        </p:nvSpPr>
        <p:spPr>
          <a:xfrm>
            <a:off x="8046720" y="1417320"/>
            <a:ext cx="3429000" cy="338328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13" name="Shape 11"/>
          <p:cNvSpPr/>
          <p:nvPr/>
        </p:nvSpPr>
        <p:spPr>
          <a:xfrm>
            <a:off x="8046720" y="1417320"/>
            <a:ext cx="73152" cy="3383280"/>
          </a:xfrm>
          <a:prstGeom prst="rect">
            <a:avLst/>
          </a:prstGeom>
          <a:solidFill>
            <a:srgbClr val="2D6A6A"/>
          </a:solidFill>
          <a:ln w="12700">
            <a:solidFill>
              <a:srgbClr val="2D6A6A"/>
            </a:solidFill>
            <a:prstDash val="solid"/>
          </a:ln>
        </p:spPr>
        <p:txBody>
          <a:bodyPr/>
          <a:lstStyle/>
          <a:p>
            <a:endParaRPr lang="en-US"/>
          </a:p>
        </p:txBody>
      </p:sp>
      <p:sp>
        <p:nvSpPr>
          <p:cNvPr id="14" name="Text 12"/>
          <p:cNvSpPr/>
          <p:nvPr/>
        </p:nvSpPr>
        <p:spPr>
          <a:xfrm>
            <a:off x="8275320" y="1618488"/>
            <a:ext cx="3017520" cy="320040"/>
          </a:xfrm>
          <a:prstGeom prst="rect">
            <a:avLst/>
          </a:prstGeom>
          <a:noFill/>
          <a:ln/>
        </p:spPr>
        <p:txBody>
          <a:bodyPr wrap="square" lIns="0" tIns="0" rIns="0" bIns="0" rtlCol="0" anchor="ctr"/>
          <a:lstStyle/>
          <a:p>
            <a:pPr marL="0" indent="0">
              <a:buNone/>
            </a:pPr>
            <a:r>
              <a:rPr lang="en-US" sz="1700" b="1" dirty="0">
                <a:solidFill>
                  <a:srgbClr val="16324F"/>
                </a:solidFill>
              </a:rPr>
              <a:t>SSI approach</a:t>
            </a:r>
            <a:endParaRPr lang="en-US" sz="1700" dirty="0"/>
          </a:p>
        </p:txBody>
      </p:sp>
      <p:sp>
        <p:nvSpPr>
          <p:cNvPr id="15" name="Text 13"/>
          <p:cNvSpPr/>
          <p:nvPr/>
        </p:nvSpPr>
        <p:spPr>
          <a:xfrm>
            <a:off x="8275320" y="2075688"/>
            <a:ext cx="3017520" cy="2560320"/>
          </a:xfrm>
          <a:prstGeom prst="rect">
            <a:avLst/>
          </a:prstGeom>
          <a:noFill/>
          <a:ln/>
        </p:spPr>
        <p:txBody>
          <a:bodyPr wrap="square" lIns="0" tIns="0" rIns="0" bIns="0" rtlCol="0" anchor="t"/>
          <a:lstStyle/>
          <a:p>
            <a:pPr marL="0" indent="0">
              <a:buNone/>
            </a:pPr>
            <a:r>
              <a:rPr lang="en-US" sz="1350" dirty="0">
                <a:solidFill>
                  <a:srgbClr val="1F2937"/>
                </a:solidFill>
              </a:rPr>
              <a:t>The user holds credentials in a wallet and presents verifiable proofs when needed.</a:t>
            </a:r>
            <a:endParaRPr lang="en-US" sz="1350" dirty="0"/>
          </a:p>
        </p:txBody>
      </p:sp>
      <p:sp>
        <p:nvSpPr>
          <p:cNvPr id="16" name="Text 14"/>
          <p:cNvSpPr/>
          <p:nvPr/>
        </p:nvSpPr>
        <p:spPr>
          <a:xfrm>
            <a:off x="1097280" y="5212080"/>
            <a:ext cx="9966960" cy="594360"/>
          </a:xfrm>
          <a:prstGeom prst="rect">
            <a:avLst/>
          </a:prstGeom>
          <a:noFill/>
          <a:ln/>
        </p:spPr>
        <p:txBody>
          <a:bodyPr wrap="square" lIns="0" tIns="0" rIns="0" bIns="0" rtlCol="0" anchor="ctr"/>
          <a:lstStyle/>
          <a:p>
            <a:pPr marL="0" indent="0" algn="ctr">
              <a:buNone/>
            </a:pPr>
            <a:r>
              <a:rPr lang="en-US" sz="2000" b="1" dirty="0">
                <a:solidFill>
                  <a:srgbClr val="16324F"/>
                </a:solidFill>
              </a:rPr>
              <a:t>Goal: more user control, portability and privacy — without removing the need to trust legitimate issuers.</a:t>
            </a:r>
            <a:endParaRPr lang="en-US" sz="20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The SSI trust triangle</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Three roles participate in a credential exchange.</a:t>
            </a:r>
            <a:endParaRPr lang="en-US" sz="1200" dirty="0"/>
          </a:p>
        </p:txBody>
      </p:sp>
      <p:sp>
        <p:nvSpPr>
          <p:cNvPr id="4" name="Shape 2"/>
          <p:cNvSpPr/>
          <p:nvPr/>
        </p:nvSpPr>
        <p:spPr>
          <a:xfrm>
            <a:off x="1005840" y="1828800"/>
            <a:ext cx="2743200" cy="2011680"/>
          </a:xfrm>
          <a:prstGeom prst="roundRect">
            <a:avLst/>
          </a:prstGeom>
          <a:solidFill>
            <a:srgbClr val="FFFFFF"/>
          </a:solidFill>
          <a:ln w="19050">
            <a:solidFill>
              <a:srgbClr val="D7E0E5"/>
            </a:solidFill>
            <a:prstDash val="solid"/>
          </a:ln>
        </p:spPr>
        <p:txBody>
          <a:bodyPr/>
          <a:lstStyle/>
          <a:p>
            <a:endParaRPr lang="en-US"/>
          </a:p>
        </p:txBody>
      </p:sp>
      <p:sp>
        <p:nvSpPr>
          <p:cNvPr id="5" name="Text 3"/>
          <p:cNvSpPr/>
          <p:nvPr/>
        </p:nvSpPr>
        <p:spPr>
          <a:xfrm>
            <a:off x="1188720" y="2148840"/>
            <a:ext cx="2377440" cy="320040"/>
          </a:xfrm>
          <a:prstGeom prst="rect">
            <a:avLst/>
          </a:prstGeom>
          <a:noFill/>
          <a:ln/>
        </p:spPr>
        <p:txBody>
          <a:bodyPr wrap="square" lIns="0" tIns="0" rIns="0" bIns="0" rtlCol="0" anchor="ctr"/>
          <a:lstStyle/>
          <a:p>
            <a:pPr marL="0" indent="0" algn="ctr">
              <a:buNone/>
            </a:pPr>
            <a:r>
              <a:rPr lang="en-US" sz="2000" b="1" dirty="0">
                <a:solidFill>
                  <a:srgbClr val="16324F"/>
                </a:solidFill>
              </a:rPr>
              <a:t>ISSUER</a:t>
            </a:r>
            <a:endParaRPr lang="en-US" sz="2000" dirty="0"/>
          </a:p>
        </p:txBody>
      </p:sp>
      <p:sp>
        <p:nvSpPr>
          <p:cNvPr id="6" name="Text 4"/>
          <p:cNvSpPr/>
          <p:nvPr/>
        </p:nvSpPr>
        <p:spPr>
          <a:xfrm>
            <a:off x="1234440" y="2697480"/>
            <a:ext cx="2286000" cy="731520"/>
          </a:xfrm>
          <a:prstGeom prst="rect">
            <a:avLst/>
          </a:prstGeom>
          <a:noFill/>
          <a:ln/>
        </p:spPr>
        <p:txBody>
          <a:bodyPr wrap="square" lIns="0" tIns="0" rIns="0" bIns="0" rtlCol="0" anchor="ctr"/>
          <a:lstStyle/>
          <a:p>
            <a:pPr marL="0" indent="0" algn="ctr">
              <a:buNone/>
            </a:pPr>
            <a:r>
              <a:rPr lang="en-US" sz="1400" dirty="0">
                <a:solidFill>
                  <a:srgbClr val="1F2937"/>
                </a:solidFill>
              </a:rPr>
              <a:t>Creates and digitally signs a credential.</a:t>
            </a:r>
            <a:endParaRPr lang="en-US" sz="1400" dirty="0"/>
          </a:p>
          <a:p>
            <a:pPr marL="0" indent="0" algn="ctr">
              <a:buNone/>
            </a:pPr>
            <a:r>
              <a:rPr lang="en-US" sz="1400" dirty="0">
                <a:solidFill>
                  <a:srgbClr val="1F2937"/>
                </a:solidFill>
              </a:rPr>
              <a:t>Example: University</a:t>
            </a:r>
            <a:endParaRPr lang="en-US" sz="1400" dirty="0"/>
          </a:p>
        </p:txBody>
      </p:sp>
      <p:sp>
        <p:nvSpPr>
          <p:cNvPr id="7" name="Shape 5"/>
          <p:cNvSpPr/>
          <p:nvPr/>
        </p:nvSpPr>
        <p:spPr>
          <a:xfrm>
            <a:off x="4572000" y="1828800"/>
            <a:ext cx="2743200" cy="2011680"/>
          </a:xfrm>
          <a:prstGeom prst="roundRect">
            <a:avLst/>
          </a:prstGeom>
          <a:solidFill>
            <a:srgbClr val="DCEDEC"/>
          </a:solidFill>
          <a:ln w="19050">
            <a:solidFill>
              <a:srgbClr val="2D6A6A"/>
            </a:solidFill>
            <a:prstDash val="solid"/>
          </a:ln>
        </p:spPr>
        <p:txBody>
          <a:bodyPr/>
          <a:lstStyle/>
          <a:p>
            <a:endParaRPr lang="en-US"/>
          </a:p>
        </p:txBody>
      </p:sp>
      <p:sp>
        <p:nvSpPr>
          <p:cNvPr id="8" name="Text 6"/>
          <p:cNvSpPr/>
          <p:nvPr/>
        </p:nvSpPr>
        <p:spPr>
          <a:xfrm>
            <a:off x="4754880" y="2148840"/>
            <a:ext cx="2377440" cy="320040"/>
          </a:xfrm>
          <a:prstGeom prst="rect">
            <a:avLst/>
          </a:prstGeom>
          <a:noFill/>
          <a:ln/>
        </p:spPr>
        <p:txBody>
          <a:bodyPr wrap="square" lIns="0" tIns="0" rIns="0" bIns="0" rtlCol="0" anchor="ctr"/>
          <a:lstStyle/>
          <a:p>
            <a:pPr marL="0" indent="0" algn="ctr">
              <a:buNone/>
            </a:pPr>
            <a:r>
              <a:rPr lang="en-US" sz="2000" b="1" dirty="0">
                <a:solidFill>
                  <a:srgbClr val="16324F"/>
                </a:solidFill>
              </a:rPr>
              <a:t>HOLDER</a:t>
            </a:r>
            <a:endParaRPr lang="en-US" sz="2000" dirty="0"/>
          </a:p>
        </p:txBody>
      </p:sp>
      <p:sp>
        <p:nvSpPr>
          <p:cNvPr id="9" name="Text 7"/>
          <p:cNvSpPr/>
          <p:nvPr/>
        </p:nvSpPr>
        <p:spPr>
          <a:xfrm>
            <a:off x="4800600" y="2697480"/>
            <a:ext cx="2286000" cy="731520"/>
          </a:xfrm>
          <a:prstGeom prst="rect">
            <a:avLst/>
          </a:prstGeom>
          <a:noFill/>
          <a:ln/>
        </p:spPr>
        <p:txBody>
          <a:bodyPr wrap="square" lIns="0" tIns="0" rIns="0" bIns="0" rtlCol="0" anchor="ctr"/>
          <a:lstStyle/>
          <a:p>
            <a:pPr marL="0" indent="0" algn="ctr">
              <a:buNone/>
            </a:pPr>
            <a:r>
              <a:rPr lang="en-US" sz="1400" dirty="0">
                <a:solidFill>
                  <a:srgbClr val="1F2937"/>
                </a:solidFill>
              </a:rPr>
              <a:t>Receives and stores the credential in a wallet.</a:t>
            </a:r>
            <a:endParaRPr lang="en-US" sz="1400" dirty="0"/>
          </a:p>
          <a:p>
            <a:pPr marL="0" indent="0" algn="ctr">
              <a:buNone/>
            </a:pPr>
            <a:r>
              <a:rPr lang="en-US" sz="1400" dirty="0">
                <a:solidFill>
                  <a:srgbClr val="1F2937"/>
                </a:solidFill>
              </a:rPr>
              <a:t>Example: Student</a:t>
            </a:r>
            <a:endParaRPr lang="en-US" sz="1400" dirty="0"/>
          </a:p>
        </p:txBody>
      </p:sp>
      <p:sp>
        <p:nvSpPr>
          <p:cNvPr id="10" name="Shape 8"/>
          <p:cNvSpPr/>
          <p:nvPr/>
        </p:nvSpPr>
        <p:spPr>
          <a:xfrm>
            <a:off x="8138160" y="1828800"/>
            <a:ext cx="2743200" cy="2011680"/>
          </a:xfrm>
          <a:prstGeom prst="roundRect">
            <a:avLst/>
          </a:prstGeom>
          <a:solidFill>
            <a:srgbClr val="FFFFFF"/>
          </a:solidFill>
          <a:ln w="19050">
            <a:solidFill>
              <a:srgbClr val="D7E0E5"/>
            </a:solidFill>
            <a:prstDash val="solid"/>
          </a:ln>
        </p:spPr>
        <p:txBody>
          <a:bodyPr/>
          <a:lstStyle/>
          <a:p>
            <a:endParaRPr lang="en-US"/>
          </a:p>
        </p:txBody>
      </p:sp>
      <p:sp>
        <p:nvSpPr>
          <p:cNvPr id="11" name="Text 9"/>
          <p:cNvSpPr/>
          <p:nvPr/>
        </p:nvSpPr>
        <p:spPr>
          <a:xfrm>
            <a:off x="8321040" y="2148840"/>
            <a:ext cx="2377440" cy="320040"/>
          </a:xfrm>
          <a:prstGeom prst="rect">
            <a:avLst/>
          </a:prstGeom>
          <a:noFill/>
          <a:ln/>
        </p:spPr>
        <p:txBody>
          <a:bodyPr wrap="square" lIns="0" tIns="0" rIns="0" bIns="0" rtlCol="0" anchor="ctr"/>
          <a:lstStyle/>
          <a:p>
            <a:pPr marL="0" indent="0" algn="ctr">
              <a:buNone/>
            </a:pPr>
            <a:r>
              <a:rPr lang="en-US" sz="2000" b="1" dirty="0">
                <a:solidFill>
                  <a:srgbClr val="16324F"/>
                </a:solidFill>
              </a:rPr>
              <a:t>VERIFIER</a:t>
            </a:r>
            <a:endParaRPr lang="en-US" sz="2000" dirty="0"/>
          </a:p>
        </p:txBody>
      </p:sp>
      <p:sp>
        <p:nvSpPr>
          <p:cNvPr id="12" name="Text 10"/>
          <p:cNvSpPr/>
          <p:nvPr/>
        </p:nvSpPr>
        <p:spPr>
          <a:xfrm>
            <a:off x="8366760" y="2697480"/>
            <a:ext cx="2286000" cy="731520"/>
          </a:xfrm>
          <a:prstGeom prst="rect">
            <a:avLst/>
          </a:prstGeom>
          <a:noFill/>
          <a:ln/>
        </p:spPr>
        <p:txBody>
          <a:bodyPr wrap="square" lIns="0" tIns="0" rIns="0" bIns="0" rtlCol="0" anchor="ctr"/>
          <a:lstStyle/>
          <a:p>
            <a:pPr marL="0" indent="0" algn="ctr">
              <a:buNone/>
            </a:pPr>
            <a:r>
              <a:rPr lang="en-US" sz="1400" dirty="0">
                <a:solidFill>
                  <a:srgbClr val="1F2937"/>
                </a:solidFill>
              </a:rPr>
              <a:t>Checks the credential and signature.</a:t>
            </a:r>
            <a:endParaRPr lang="en-US" sz="1400" dirty="0"/>
          </a:p>
          <a:p>
            <a:pPr marL="0" indent="0" algn="ctr">
              <a:buNone/>
            </a:pPr>
            <a:r>
              <a:rPr lang="en-US" sz="1400" dirty="0">
                <a:solidFill>
                  <a:srgbClr val="1F2937"/>
                </a:solidFill>
              </a:rPr>
              <a:t>Example: Employer</a:t>
            </a:r>
            <a:endParaRPr lang="en-US" sz="1400" dirty="0"/>
          </a:p>
        </p:txBody>
      </p:sp>
      <p:sp>
        <p:nvSpPr>
          <p:cNvPr id="13" name="Shape 11"/>
          <p:cNvSpPr/>
          <p:nvPr/>
        </p:nvSpPr>
        <p:spPr>
          <a:xfrm>
            <a:off x="3886200" y="2514600"/>
            <a:ext cx="502920" cy="502920"/>
          </a:xfrm>
          <a:prstGeom prst="chevron">
            <a:avLst/>
          </a:prstGeom>
          <a:solidFill>
            <a:srgbClr val="2D6A6A"/>
          </a:solidFill>
          <a:ln w="12700">
            <a:solidFill>
              <a:srgbClr val="2D6A6A"/>
            </a:solidFill>
            <a:prstDash val="solid"/>
          </a:ln>
        </p:spPr>
        <p:txBody>
          <a:bodyPr/>
          <a:lstStyle/>
          <a:p>
            <a:endParaRPr lang="en-US"/>
          </a:p>
        </p:txBody>
      </p:sp>
      <p:sp>
        <p:nvSpPr>
          <p:cNvPr id="14" name="Shape 12"/>
          <p:cNvSpPr/>
          <p:nvPr/>
        </p:nvSpPr>
        <p:spPr>
          <a:xfrm>
            <a:off x="7452360" y="2514600"/>
            <a:ext cx="502920" cy="502920"/>
          </a:xfrm>
          <a:prstGeom prst="chevron">
            <a:avLst/>
          </a:prstGeom>
          <a:solidFill>
            <a:srgbClr val="2D6A6A"/>
          </a:solidFill>
          <a:ln w="12700">
            <a:solidFill>
              <a:srgbClr val="2D6A6A"/>
            </a:solidFill>
            <a:prstDash val="solid"/>
          </a:ln>
        </p:spPr>
        <p:txBody>
          <a:bodyPr/>
          <a:lstStyle/>
          <a:p>
            <a:endParaRPr lang="en-US"/>
          </a:p>
        </p:txBody>
      </p:sp>
      <p:sp>
        <p:nvSpPr>
          <p:cNvPr id="15" name="Text 13"/>
          <p:cNvSpPr/>
          <p:nvPr/>
        </p:nvSpPr>
        <p:spPr>
          <a:xfrm>
            <a:off x="3520440" y="3154680"/>
            <a:ext cx="1280160" cy="274320"/>
          </a:xfrm>
          <a:prstGeom prst="rect">
            <a:avLst/>
          </a:prstGeom>
          <a:noFill/>
          <a:ln/>
        </p:spPr>
        <p:txBody>
          <a:bodyPr wrap="square" lIns="0" tIns="0" rIns="0" bIns="0" rtlCol="0" anchor="ctr"/>
          <a:lstStyle/>
          <a:p>
            <a:pPr marL="0" indent="0" algn="ctr">
              <a:buNone/>
            </a:pPr>
            <a:r>
              <a:rPr lang="en-US" sz="1100" dirty="0">
                <a:solidFill>
                  <a:srgbClr val="64748B"/>
                </a:solidFill>
              </a:rPr>
              <a:t>issues VC</a:t>
            </a:r>
            <a:endParaRPr lang="en-US" sz="1100" dirty="0"/>
          </a:p>
        </p:txBody>
      </p:sp>
      <p:sp>
        <p:nvSpPr>
          <p:cNvPr id="16" name="Text 14"/>
          <p:cNvSpPr/>
          <p:nvPr/>
        </p:nvSpPr>
        <p:spPr>
          <a:xfrm>
            <a:off x="6995160" y="3154680"/>
            <a:ext cx="1463040" cy="274320"/>
          </a:xfrm>
          <a:prstGeom prst="rect">
            <a:avLst/>
          </a:prstGeom>
          <a:noFill/>
          <a:ln/>
        </p:spPr>
        <p:txBody>
          <a:bodyPr wrap="square" lIns="0" tIns="0" rIns="0" bIns="0" rtlCol="0" anchor="ctr"/>
          <a:lstStyle/>
          <a:p>
            <a:pPr marL="0" indent="0" algn="ctr">
              <a:buNone/>
            </a:pPr>
            <a:r>
              <a:rPr lang="en-US" sz="1100" dirty="0">
                <a:solidFill>
                  <a:srgbClr val="64748B"/>
                </a:solidFill>
              </a:rPr>
              <a:t>presents proof</a:t>
            </a:r>
            <a:endParaRPr lang="en-US" sz="1100" dirty="0"/>
          </a:p>
        </p:txBody>
      </p:sp>
      <p:sp>
        <p:nvSpPr>
          <p:cNvPr id="17" name="Text 15"/>
          <p:cNvSpPr/>
          <p:nvPr/>
        </p:nvSpPr>
        <p:spPr>
          <a:xfrm>
            <a:off x="1143000" y="4709160"/>
            <a:ext cx="9875520" cy="777240"/>
          </a:xfrm>
          <a:prstGeom prst="rect">
            <a:avLst/>
          </a:prstGeom>
          <a:noFill/>
          <a:ln/>
        </p:spPr>
        <p:txBody>
          <a:bodyPr wrap="square" lIns="0" tIns="0" rIns="0" bIns="0" rtlCol="0" anchor="ctr"/>
          <a:lstStyle/>
          <a:p>
            <a:pPr marL="0" indent="0" algn="ctr">
              <a:buNone/>
            </a:pPr>
            <a:r>
              <a:rPr lang="en-US" sz="1800" b="1" dirty="0">
                <a:solidFill>
                  <a:srgbClr val="16324F"/>
                </a:solidFill>
              </a:rPr>
              <a:t>Trust is not removed. Cryptography proves who signed the credential; the verifier still decides whether that issuer is trustworthy.</a:t>
            </a:r>
            <a:endParaRPr lang="en-US" sz="18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Core building blocks</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SSI systems commonly combine these concepts.</a:t>
            </a:r>
            <a:endParaRPr lang="en-US" sz="1200" dirty="0"/>
          </a:p>
        </p:txBody>
      </p:sp>
      <p:sp>
        <p:nvSpPr>
          <p:cNvPr id="4" name="Shape 2"/>
          <p:cNvSpPr/>
          <p:nvPr/>
        </p:nvSpPr>
        <p:spPr>
          <a:xfrm>
            <a:off x="777240" y="1417320"/>
            <a:ext cx="3383280" cy="356616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5" name="Shape 3"/>
          <p:cNvSpPr/>
          <p:nvPr/>
        </p:nvSpPr>
        <p:spPr>
          <a:xfrm>
            <a:off x="777240" y="1417320"/>
            <a:ext cx="73152" cy="3566160"/>
          </a:xfrm>
          <a:prstGeom prst="rect">
            <a:avLst/>
          </a:prstGeom>
          <a:solidFill>
            <a:srgbClr val="2D6A6A"/>
          </a:solidFill>
          <a:ln w="12700">
            <a:solidFill>
              <a:srgbClr val="2D6A6A"/>
            </a:solidFill>
            <a:prstDash val="solid"/>
          </a:ln>
        </p:spPr>
        <p:txBody>
          <a:bodyPr/>
          <a:lstStyle/>
          <a:p>
            <a:endParaRPr lang="en-US"/>
          </a:p>
        </p:txBody>
      </p:sp>
      <p:sp>
        <p:nvSpPr>
          <p:cNvPr id="6" name="Text 4"/>
          <p:cNvSpPr/>
          <p:nvPr/>
        </p:nvSpPr>
        <p:spPr>
          <a:xfrm>
            <a:off x="1005840" y="1618488"/>
            <a:ext cx="2971800" cy="320040"/>
          </a:xfrm>
          <a:prstGeom prst="rect">
            <a:avLst/>
          </a:prstGeom>
          <a:noFill/>
          <a:ln/>
        </p:spPr>
        <p:txBody>
          <a:bodyPr wrap="square" lIns="0" tIns="0" rIns="0" bIns="0" rtlCol="0" anchor="ctr"/>
          <a:lstStyle/>
          <a:p>
            <a:pPr marL="0" indent="0">
              <a:buNone/>
            </a:pPr>
            <a:r>
              <a:rPr lang="en-US" sz="1700" b="1" dirty="0">
                <a:solidFill>
                  <a:srgbClr val="16324F"/>
                </a:solidFill>
              </a:rPr>
              <a:t>1. DIDs</a:t>
            </a:r>
            <a:endParaRPr lang="en-US" sz="1700" dirty="0"/>
          </a:p>
        </p:txBody>
      </p:sp>
      <p:sp>
        <p:nvSpPr>
          <p:cNvPr id="7" name="Text 5"/>
          <p:cNvSpPr/>
          <p:nvPr/>
        </p:nvSpPr>
        <p:spPr>
          <a:xfrm>
            <a:off x="1005840" y="2075688"/>
            <a:ext cx="2971800" cy="2743200"/>
          </a:xfrm>
          <a:prstGeom prst="rect">
            <a:avLst/>
          </a:prstGeom>
          <a:noFill/>
          <a:ln/>
        </p:spPr>
        <p:txBody>
          <a:bodyPr wrap="square" lIns="0" tIns="0" rIns="0" bIns="0" rtlCol="0" anchor="t"/>
          <a:lstStyle/>
          <a:p>
            <a:pPr marL="0" indent="0">
              <a:buNone/>
            </a:pPr>
            <a:r>
              <a:rPr lang="en-US" sz="1350" dirty="0">
                <a:solidFill>
                  <a:srgbClr val="1F2937"/>
                </a:solidFill>
              </a:rPr>
              <a:t>Decentralized Identifiers are identifiers controlled through cryptographic keys. A DID resolves according to its DID method.</a:t>
            </a:r>
            <a:endParaRPr lang="en-US" sz="1350" dirty="0"/>
          </a:p>
        </p:txBody>
      </p:sp>
      <p:sp>
        <p:nvSpPr>
          <p:cNvPr id="8" name="Shape 6"/>
          <p:cNvSpPr/>
          <p:nvPr/>
        </p:nvSpPr>
        <p:spPr>
          <a:xfrm>
            <a:off x="4389120" y="1417320"/>
            <a:ext cx="3383280" cy="356616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9" name="Shape 7"/>
          <p:cNvSpPr/>
          <p:nvPr/>
        </p:nvSpPr>
        <p:spPr>
          <a:xfrm>
            <a:off x="4389120" y="1417320"/>
            <a:ext cx="73152" cy="3566160"/>
          </a:xfrm>
          <a:prstGeom prst="rect">
            <a:avLst/>
          </a:prstGeom>
          <a:solidFill>
            <a:srgbClr val="E7A84B"/>
          </a:solidFill>
          <a:ln w="12700">
            <a:solidFill>
              <a:srgbClr val="E7A84B"/>
            </a:solidFill>
            <a:prstDash val="solid"/>
          </a:ln>
        </p:spPr>
        <p:txBody>
          <a:bodyPr/>
          <a:lstStyle/>
          <a:p>
            <a:endParaRPr lang="en-US"/>
          </a:p>
        </p:txBody>
      </p:sp>
      <p:sp>
        <p:nvSpPr>
          <p:cNvPr id="10" name="Text 8"/>
          <p:cNvSpPr/>
          <p:nvPr/>
        </p:nvSpPr>
        <p:spPr>
          <a:xfrm>
            <a:off x="4617720" y="1618488"/>
            <a:ext cx="2971800" cy="320040"/>
          </a:xfrm>
          <a:prstGeom prst="rect">
            <a:avLst/>
          </a:prstGeom>
          <a:noFill/>
          <a:ln/>
        </p:spPr>
        <p:txBody>
          <a:bodyPr wrap="square" lIns="0" tIns="0" rIns="0" bIns="0" rtlCol="0" anchor="ctr"/>
          <a:lstStyle/>
          <a:p>
            <a:pPr marL="0" indent="0">
              <a:buNone/>
            </a:pPr>
            <a:r>
              <a:rPr lang="en-US" sz="1700" b="1" dirty="0">
                <a:solidFill>
                  <a:srgbClr val="16324F"/>
                </a:solidFill>
              </a:rPr>
              <a:t>2. Verifiable Credentials</a:t>
            </a:r>
            <a:endParaRPr lang="en-US" sz="1700" dirty="0"/>
          </a:p>
        </p:txBody>
      </p:sp>
      <p:sp>
        <p:nvSpPr>
          <p:cNvPr id="11" name="Text 9"/>
          <p:cNvSpPr/>
          <p:nvPr/>
        </p:nvSpPr>
        <p:spPr>
          <a:xfrm>
            <a:off x="4617720" y="2075688"/>
            <a:ext cx="2971800" cy="2743200"/>
          </a:xfrm>
          <a:prstGeom prst="rect">
            <a:avLst/>
          </a:prstGeom>
          <a:noFill/>
          <a:ln/>
        </p:spPr>
        <p:txBody>
          <a:bodyPr wrap="square" lIns="0" tIns="0" rIns="0" bIns="0" rtlCol="0" anchor="t"/>
          <a:lstStyle/>
          <a:p>
            <a:pPr marL="0" indent="0">
              <a:buNone/>
            </a:pPr>
            <a:r>
              <a:rPr lang="en-US" sz="1350" dirty="0">
                <a:solidFill>
                  <a:srgbClr val="1F2937"/>
                </a:solidFill>
              </a:rPr>
              <a:t>Digitally signed credentials containing claims from an issuer about a subject or holder.</a:t>
            </a:r>
            <a:endParaRPr lang="en-US" sz="1350" dirty="0"/>
          </a:p>
        </p:txBody>
      </p:sp>
      <p:sp>
        <p:nvSpPr>
          <p:cNvPr id="12" name="Shape 10"/>
          <p:cNvSpPr/>
          <p:nvPr/>
        </p:nvSpPr>
        <p:spPr>
          <a:xfrm>
            <a:off x="8001000" y="1417320"/>
            <a:ext cx="3383280" cy="356616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13" name="Shape 11"/>
          <p:cNvSpPr/>
          <p:nvPr/>
        </p:nvSpPr>
        <p:spPr>
          <a:xfrm>
            <a:off x="8001000" y="1417320"/>
            <a:ext cx="73152" cy="3566160"/>
          </a:xfrm>
          <a:prstGeom prst="rect">
            <a:avLst/>
          </a:prstGeom>
          <a:solidFill>
            <a:srgbClr val="16324F"/>
          </a:solidFill>
          <a:ln w="12700">
            <a:solidFill>
              <a:srgbClr val="16324F"/>
            </a:solidFill>
            <a:prstDash val="solid"/>
          </a:ln>
        </p:spPr>
        <p:txBody>
          <a:bodyPr/>
          <a:lstStyle/>
          <a:p>
            <a:endParaRPr lang="en-US"/>
          </a:p>
        </p:txBody>
      </p:sp>
      <p:sp>
        <p:nvSpPr>
          <p:cNvPr id="14" name="Text 12"/>
          <p:cNvSpPr/>
          <p:nvPr/>
        </p:nvSpPr>
        <p:spPr>
          <a:xfrm>
            <a:off x="8229600" y="1618488"/>
            <a:ext cx="2971800" cy="320040"/>
          </a:xfrm>
          <a:prstGeom prst="rect">
            <a:avLst/>
          </a:prstGeom>
          <a:noFill/>
          <a:ln/>
        </p:spPr>
        <p:txBody>
          <a:bodyPr wrap="square" lIns="0" tIns="0" rIns="0" bIns="0" rtlCol="0" anchor="ctr"/>
          <a:lstStyle/>
          <a:p>
            <a:pPr marL="0" indent="0">
              <a:buNone/>
            </a:pPr>
            <a:r>
              <a:rPr lang="en-US" sz="1700" b="1" dirty="0">
                <a:solidFill>
                  <a:srgbClr val="16324F"/>
                </a:solidFill>
              </a:rPr>
              <a:t>3. Verifiable Presentations</a:t>
            </a:r>
            <a:endParaRPr lang="en-US" sz="1700" dirty="0"/>
          </a:p>
        </p:txBody>
      </p:sp>
      <p:sp>
        <p:nvSpPr>
          <p:cNvPr id="15" name="Text 13"/>
          <p:cNvSpPr/>
          <p:nvPr/>
        </p:nvSpPr>
        <p:spPr>
          <a:xfrm>
            <a:off x="8229600" y="2075688"/>
            <a:ext cx="2971800" cy="2743200"/>
          </a:xfrm>
          <a:prstGeom prst="rect">
            <a:avLst/>
          </a:prstGeom>
          <a:noFill/>
          <a:ln/>
        </p:spPr>
        <p:txBody>
          <a:bodyPr wrap="square" lIns="0" tIns="0" rIns="0" bIns="0" rtlCol="0" anchor="t"/>
          <a:lstStyle/>
          <a:p>
            <a:pPr marL="0" indent="0">
              <a:buNone/>
            </a:pPr>
            <a:r>
              <a:rPr lang="en-US" sz="1350" dirty="0">
                <a:solidFill>
                  <a:srgbClr val="1F2937"/>
                </a:solidFill>
              </a:rPr>
              <a:t>A holder packages credential information or proofs for a verifier and can sign the presentation.</a:t>
            </a:r>
            <a:endParaRPr lang="en-US" sz="1350" dirty="0"/>
          </a:p>
        </p:txBody>
      </p:sp>
      <p:sp>
        <p:nvSpPr>
          <p:cNvPr id="16" name="Text 14"/>
          <p:cNvSpPr/>
          <p:nvPr/>
        </p:nvSpPr>
        <p:spPr>
          <a:xfrm>
            <a:off x="1188720" y="5303520"/>
            <a:ext cx="9784080" cy="502920"/>
          </a:xfrm>
          <a:prstGeom prst="rect">
            <a:avLst/>
          </a:prstGeom>
          <a:noFill/>
          <a:ln/>
        </p:spPr>
        <p:txBody>
          <a:bodyPr wrap="square" lIns="0" tIns="0" rIns="0" bIns="0" rtlCol="0" anchor="ctr"/>
          <a:lstStyle/>
          <a:p>
            <a:pPr marL="0" indent="0" algn="ctr">
              <a:buNone/>
            </a:pPr>
            <a:endParaRPr lang="en-US" sz="18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How SSI works</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A simple university → student → employer example.</a:t>
            </a:r>
            <a:endParaRPr lang="en-US" sz="1200" dirty="0"/>
          </a:p>
        </p:txBody>
      </p:sp>
      <p:sp>
        <p:nvSpPr>
          <p:cNvPr id="4" name="Shape 2"/>
          <p:cNvSpPr/>
          <p:nvPr/>
        </p:nvSpPr>
        <p:spPr>
          <a:xfrm>
            <a:off x="914400" y="1325880"/>
            <a:ext cx="502920" cy="502920"/>
          </a:xfrm>
          <a:prstGeom prst="ellipse">
            <a:avLst/>
          </a:prstGeom>
          <a:solidFill>
            <a:srgbClr val="2D6A6A"/>
          </a:solidFill>
          <a:ln w="12700">
            <a:solidFill>
              <a:srgbClr val="2D6A6A"/>
            </a:solidFill>
            <a:prstDash val="solid"/>
          </a:ln>
        </p:spPr>
        <p:txBody>
          <a:bodyPr/>
          <a:lstStyle/>
          <a:p>
            <a:endParaRPr lang="en-US"/>
          </a:p>
        </p:txBody>
      </p:sp>
      <p:sp>
        <p:nvSpPr>
          <p:cNvPr id="5" name="Text 3"/>
          <p:cNvSpPr/>
          <p:nvPr/>
        </p:nvSpPr>
        <p:spPr>
          <a:xfrm>
            <a:off x="914400" y="1444752"/>
            <a:ext cx="502920" cy="18288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p:nvPr/>
        </p:nvSpPr>
        <p:spPr>
          <a:xfrm>
            <a:off x="1645920" y="1307592"/>
            <a:ext cx="2560320" cy="274320"/>
          </a:xfrm>
          <a:prstGeom prst="rect">
            <a:avLst/>
          </a:prstGeom>
          <a:noFill/>
          <a:ln/>
        </p:spPr>
        <p:txBody>
          <a:bodyPr wrap="square" lIns="0" tIns="0" rIns="0" bIns="0" rtlCol="0" anchor="ctr"/>
          <a:lstStyle/>
          <a:p>
            <a:pPr marL="0" indent="0">
              <a:buNone/>
            </a:pPr>
            <a:r>
              <a:rPr lang="en-US" sz="1800" b="1" dirty="0">
                <a:solidFill>
                  <a:srgbClr val="16324F"/>
                </a:solidFill>
              </a:rPr>
              <a:t>Create / control DID</a:t>
            </a:r>
            <a:endParaRPr lang="en-US" sz="1800" dirty="0"/>
          </a:p>
        </p:txBody>
      </p:sp>
      <p:sp>
        <p:nvSpPr>
          <p:cNvPr id="7" name="Text 5"/>
          <p:cNvSpPr/>
          <p:nvPr/>
        </p:nvSpPr>
        <p:spPr>
          <a:xfrm>
            <a:off x="4160520" y="1307592"/>
            <a:ext cx="6309360" cy="365760"/>
          </a:xfrm>
          <a:prstGeom prst="rect">
            <a:avLst/>
          </a:prstGeom>
          <a:noFill/>
          <a:ln/>
        </p:spPr>
        <p:txBody>
          <a:bodyPr wrap="square" lIns="0" tIns="0" rIns="0" bIns="0" rtlCol="0" anchor="ctr"/>
          <a:lstStyle/>
          <a:p>
            <a:pPr marL="0" indent="0">
              <a:buNone/>
            </a:pPr>
            <a:r>
              <a:rPr lang="en-US" sz="1500" dirty="0">
                <a:solidFill>
                  <a:srgbClr val="1F2937"/>
                </a:solidFill>
              </a:rPr>
              <a:t>Student wallet manages keys and identifiers.</a:t>
            </a:r>
            <a:endParaRPr lang="en-US" sz="1500" dirty="0"/>
          </a:p>
        </p:txBody>
      </p:sp>
      <p:sp>
        <p:nvSpPr>
          <p:cNvPr id="8" name="Shape 6"/>
          <p:cNvSpPr/>
          <p:nvPr/>
        </p:nvSpPr>
        <p:spPr>
          <a:xfrm>
            <a:off x="1165860" y="1828800"/>
            <a:ext cx="0" cy="365760"/>
          </a:xfrm>
          <a:prstGeom prst="line">
            <a:avLst/>
          </a:prstGeom>
          <a:noFill/>
          <a:ln w="25400">
            <a:solidFill>
              <a:srgbClr val="A7C8C6"/>
            </a:solidFill>
            <a:prstDash val="solid"/>
          </a:ln>
        </p:spPr>
        <p:txBody>
          <a:bodyPr/>
          <a:lstStyle/>
          <a:p>
            <a:endParaRPr lang="en-US"/>
          </a:p>
        </p:txBody>
      </p:sp>
      <p:sp>
        <p:nvSpPr>
          <p:cNvPr id="9" name="Shape 7"/>
          <p:cNvSpPr/>
          <p:nvPr/>
        </p:nvSpPr>
        <p:spPr>
          <a:xfrm>
            <a:off x="914400" y="2194560"/>
            <a:ext cx="502920" cy="502920"/>
          </a:xfrm>
          <a:prstGeom prst="ellipse">
            <a:avLst/>
          </a:prstGeom>
          <a:solidFill>
            <a:srgbClr val="2D6A6A"/>
          </a:solidFill>
          <a:ln w="12700">
            <a:solidFill>
              <a:srgbClr val="2D6A6A"/>
            </a:solidFill>
            <a:prstDash val="solid"/>
          </a:ln>
        </p:spPr>
        <p:txBody>
          <a:bodyPr/>
          <a:lstStyle/>
          <a:p>
            <a:endParaRPr lang="en-US"/>
          </a:p>
        </p:txBody>
      </p:sp>
      <p:sp>
        <p:nvSpPr>
          <p:cNvPr id="10" name="Text 8"/>
          <p:cNvSpPr/>
          <p:nvPr/>
        </p:nvSpPr>
        <p:spPr>
          <a:xfrm>
            <a:off x="914400" y="2313432"/>
            <a:ext cx="502920" cy="18288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1" name="Text 9"/>
          <p:cNvSpPr/>
          <p:nvPr/>
        </p:nvSpPr>
        <p:spPr>
          <a:xfrm>
            <a:off x="1645920" y="2176272"/>
            <a:ext cx="2560320" cy="274320"/>
          </a:xfrm>
          <a:prstGeom prst="rect">
            <a:avLst/>
          </a:prstGeom>
          <a:noFill/>
          <a:ln/>
        </p:spPr>
        <p:txBody>
          <a:bodyPr wrap="square" lIns="0" tIns="0" rIns="0" bIns="0" rtlCol="0" anchor="ctr"/>
          <a:lstStyle/>
          <a:p>
            <a:pPr marL="0" indent="0">
              <a:buNone/>
            </a:pPr>
            <a:r>
              <a:rPr lang="en-US" sz="1800" b="1" dirty="0">
                <a:solidFill>
                  <a:srgbClr val="16324F"/>
                </a:solidFill>
              </a:rPr>
              <a:t>Issue credential</a:t>
            </a:r>
            <a:endParaRPr lang="en-US" sz="1800" dirty="0"/>
          </a:p>
        </p:txBody>
      </p:sp>
      <p:sp>
        <p:nvSpPr>
          <p:cNvPr id="12" name="Text 10"/>
          <p:cNvSpPr/>
          <p:nvPr/>
        </p:nvSpPr>
        <p:spPr>
          <a:xfrm>
            <a:off x="4160520" y="2176272"/>
            <a:ext cx="6309360" cy="365760"/>
          </a:xfrm>
          <a:prstGeom prst="rect">
            <a:avLst/>
          </a:prstGeom>
          <a:noFill/>
          <a:ln/>
        </p:spPr>
        <p:txBody>
          <a:bodyPr wrap="square" lIns="0" tIns="0" rIns="0" bIns="0" rtlCol="0" anchor="ctr"/>
          <a:lstStyle/>
          <a:p>
            <a:pPr marL="0" indent="0">
              <a:buNone/>
            </a:pPr>
            <a:r>
              <a:rPr lang="en-US" sz="1500" dirty="0">
                <a:solidFill>
                  <a:srgbClr val="1F2937"/>
                </a:solidFill>
              </a:rPr>
              <a:t>University verifies the student and signs a VC.</a:t>
            </a:r>
            <a:endParaRPr lang="en-US" sz="1500" dirty="0"/>
          </a:p>
        </p:txBody>
      </p:sp>
      <p:sp>
        <p:nvSpPr>
          <p:cNvPr id="13" name="Shape 11"/>
          <p:cNvSpPr/>
          <p:nvPr/>
        </p:nvSpPr>
        <p:spPr>
          <a:xfrm>
            <a:off x="1165860" y="2697480"/>
            <a:ext cx="0" cy="365760"/>
          </a:xfrm>
          <a:prstGeom prst="line">
            <a:avLst/>
          </a:prstGeom>
          <a:noFill/>
          <a:ln w="25400">
            <a:solidFill>
              <a:srgbClr val="A7C8C6"/>
            </a:solidFill>
            <a:prstDash val="solid"/>
          </a:ln>
        </p:spPr>
        <p:txBody>
          <a:bodyPr/>
          <a:lstStyle/>
          <a:p>
            <a:endParaRPr lang="en-US"/>
          </a:p>
        </p:txBody>
      </p:sp>
      <p:sp>
        <p:nvSpPr>
          <p:cNvPr id="14" name="Shape 12"/>
          <p:cNvSpPr/>
          <p:nvPr/>
        </p:nvSpPr>
        <p:spPr>
          <a:xfrm>
            <a:off x="914400" y="3063240"/>
            <a:ext cx="502920" cy="502920"/>
          </a:xfrm>
          <a:prstGeom prst="ellipse">
            <a:avLst/>
          </a:prstGeom>
          <a:solidFill>
            <a:srgbClr val="2D6A6A"/>
          </a:solidFill>
          <a:ln w="12700">
            <a:solidFill>
              <a:srgbClr val="2D6A6A"/>
            </a:solidFill>
            <a:prstDash val="solid"/>
          </a:ln>
        </p:spPr>
        <p:txBody>
          <a:bodyPr/>
          <a:lstStyle/>
          <a:p>
            <a:endParaRPr lang="en-US"/>
          </a:p>
        </p:txBody>
      </p:sp>
      <p:sp>
        <p:nvSpPr>
          <p:cNvPr id="15" name="Text 13"/>
          <p:cNvSpPr/>
          <p:nvPr/>
        </p:nvSpPr>
        <p:spPr>
          <a:xfrm>
            <a:off x="914400" y="3182112"/>
            <a:ext cx="502920" cy="18288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6" name="Text 14"/>
          <p:cNvSpPr/>
          <p:nvPr/>
        </p:nvSpPr>
        <p:spPr>
          <a:xfrm>
            <a:off x="1645920" y="3044952"/>
            <a:ext cx="2560320" cy="274320"/>
          </a:xfrm>
          <a:prstGeom prst="rect">
            <a:avLst/>
          </a:prstGeom>
          <a:noFill/>
          <a:ln/>
        </p:spPr>
        <p:txBody>
          <a:bodyPr wrap="square" lIns="0" tIns="0" rIns="0" bIns="0" rtlCol="0" anchor="ctr"/>
          <a:lstStyle/>
          <a:p>
            <a:pPr marL="0" indent="0">
              <a:buNone/>
            </a:pPr>
            <a:r>
              <a:rPr lang="en-US" sz="1800" b="1" dirty="0">
                <a:solidFill>
                  <a:srgbClr val="16324F"/>
                </a:solidFill>
              </a:rPr>
              <a:t>Store credential</a:t>
            </a:r>
            <a:endParaRPr lang="en-US" sz="1800" dirty="0"/>
          </a:p>
        </p:txBody>
      </p:sp>
      <p:sp>
        <p:nvSpPr>
          <p:cNvPr id="17" name="Text 15"/>
          <p:cNvSpPr/>
          <p:nvPr/>
        </p:nvSpPr>
        <p:spPr>
          <a:xfrm>
            <a:off x="4160520" y="3044952"/>
            <a:ext cx="6309360" cy="365760"/>
          </a:xfrm>
          <a:prstGeom prst="rect">
            <a:avLst/>
          </a:prstGeom>
          <a:noFill/>
          <a:ln/>
        </p:spPr>
        <p:txBody>
          <a:bodyPr wrap="square" lIns="0" tIns="0" rIns="0" bIns="0" rtlCol="0" anchor="ctr"/>
          <a:lstStyle/>
          <a:p>
            <a:pPr marL="0" indent="0">
              <a:buNone/>
            </a:pPr>
            <a:r>
              <a:rPr lang="en-US" sz="1500" dirty="0">
                <a:solidFill>
                  <a:srgbClr val="1F2937"/>
                </a:solidFill>
              </a:rPr>
              <a:t>Student keeps the VC in a digital wallet.</a:t>
            </a:r>
            <a:endParaRPr lang="en-US" sz="1500" dirty="0"/>
          </a:p>
        </p:txBody>
      </p:sp>
      <p:sp>
        <p:nvSpPr>
          <p:cNvPr id="18" name="Shape 16"/>
          <p:cNvSpPr/>
          <p:nvPr/>
        </p:nvSpPr>
        <p:spPr>
          <a:xfrm>
            <a:off x="1165860" y="3566160"/>
            <a:ext cx="0" cy="365760"/>
          </a:xfrm>
          <a:prstGeom prst="line">
            <a:avLst/>
          </a:prstGeom>
          <a:noFill/>
          <a:ln w="25400">
            <a:solidFill>
              <a:srgbClr val="A7C8C6"/>
            </a:solidFill>
            <a:prstDash val="solid"/>
          </a:ln>
        </p:spPr>
        <p:txBody>
          <a:bodyPr/>
          <a:lstStyle/>
          <a:p>
            <a:endParaRPr lang="en-US"/>
          </a:p>
        </p:txBody>
      </p:sp>
      <p:sp>
        <p:nvSpPr>
          <p:cNvPr id="19" name="Shape 17"/>
          <p:cNvSpPr/>
          <p:nvPr/>
        </p:nvSpPr>
        <p:spPr>
          <a:xfrm>
            <a:off x="914400" y="3931920"/>
            <a:ext cx="502920" cy="502920"/>
          </a:xfrm>
          <a:prstGeom prst="ellipse">
            <a:avLst/>
          </a:prstGeom>
          <a:solidFill>
            <a:srgbClr val="2D6A6A"/>
          </a:solidFill>
          <a:ln w="12700">
            <a:solidFill>
              <a:srgbClr val="2D6A6A"/>
            </a:solidFill>
            <a:prstDash val="solid"/>
          </a:ln>
        </p:spPr>
        <p:txBody>
          <a:bodyPr/>
          <a:lstStyle/>
          <a:p>
            <a:endParaRPr lang="en-US"/>
          </a:p>
        </p:txBody>
      </p:sp>
      <p:sp>
        <p:nvSpPr>
          <p:cNvPr id="20" name="Text 18"/>
          <p:cNvSpPr/>
          <p:nvPr/>
        </p:nvSpPr>
        <p:spPr>
          <a:xfrm>
            <a:off x="914400" y="4050792"/>
            <a:ext cx="502920" cy="18288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1" name="Text 19"/>
          <p:cNvSpPr/>
          <p:nvPr/>
        </p:nvSpPr>
        <p:spPr>
          <a:xfrm>
            <a:off x="1645920" y="3913632"/>
            <a:ext cx="2560320" cy="274320"/>
          </a:xfrm>
          <a:prstGeom prst="rect">
            <a:avLst/>
          </a:prstGeom>
          <a:noFill/>
          <a:ln/>
        </p:spPr>
        <p:txBody>
          <a:bodyPr wrap="square" lIns="0" tIns="0" rIns="0" bIns="0" rtlCol="0" anchor="ctr"/>
          <a:lstStyle/>
          <a:p>
            <a:pPr marL="0" indent="0">
              <a:buNone/>
            </a:pPr>
            <a:r>
              <a:rPr lang="en-US" sz="1800" b="1" dirty="0">
                <a:solidFill>
                  <a:srgbClr val="16324F"/>
                </a:solidFill>
              </a:rPr>
              <a:t>Present proof</a:t>
            </a:r>
            <a:endParaRPr lang="en-US" sz="1800" dirty="0"/>
          </a:p>
        </p:txBody>
      </p:sp>
      <p:sp>
        <p:nvSpPr>
          <p:cNvPr id="22" name="Text 20"/>
          <p:cNvSpPr/>
          <p:nvPr/>
        </p:nvSpPr>
        <p:spPr>
          <a:xfrm>
            <a:off x="4160520" y="3913632"/>
            <a:ext cx="6309360" cy="365760"/>
          </a:xfrm>
          <a:prstGeom prst="rect">
            <a:avLst/>
          </a:prstGeom>
          <a:noFill/>
          <a:ln/>
        </p:spPr>
        <p:txBody>
          <a:bodyPr wrap="square" lIns="0" tIns="0" rIns="0" bIns="0" rtlCol="0" anchor="ctr"/>
          <a:lstStyle/>
          <a:p>
            <a:pPr marL="0" indent="0">
              <a:buNone/>
            </a:pPr>
            <a:r>
              <a:rPr lang="en-US" sz="1500" dirty="0">
                <a:solidFill>
                  <a:srgbClr val="1F2937"/>
                </a:solidFill>
              </a:rPr>
              <a:t>Student sends a VP or credential proof to employer.</a:t>
            </a:r>
            <a:endParaRPr lang="en-US" sz="1500" dirty="0"/>
          </a:p>
        </p:txBody>
      </p:sp>
      <p:sp>
        <p:nvSpPr>
          <p:cNvPr id="23" name="Shape 21"/>
          <p:cNvSpPr/>
          <p:nvPr/>
        </p:nvSpPr>
        <p:spPr>
          <a:xfrm>
            <a:off x="1165860" y="4434840"/>
            <a:ext cx="0" cy="365760"/>
          </a:xfrm>
          <a:prstGeom prst="line">
            <a:avLst/>
          </a:prstGeom>
          <a:noFill/>
          <a:ln w="25400">
            <a:solidFill>
              <a:srgbClr val="A7C8C6"/>
            </a:solidFill>
            <a:prstDash val="solid"/>
          </a:ln>
        </p:spPr>
        <p:txBody>
          <a:bodyPr/>
          <a:lstStyle/>
          <a:p>
            <a:endParaRPr lang="en-US"/>
          </a:p>
        </p:txBody>
      </p:sp>
      <p:sp>
        <p:nvSpPr>
          <p:cNvPr id="24" name="Shape 22"/>
          <p:cNvSpPr/>
          <p:nvPr/>
        </p:nvSpPr>
        <p:spPr>
          <a:xfrm>
            <a:off x="914400" y="4800600"/>
            <a:ext cx="502920" cy="502920"/>
          </a:xfrm>
          <a:prstGeom prst="ellipse">
            <a:avLst/>
          </a:prstGeom>
          <a:solidFill>
            <a:srgbClr val="2D6A6A"/>
          </a:solidFill>
          <a:ln w="12700">
            <a:solidFill>
              <a:srgbClr val="2D6A6A"/>
            </a:solidFill>
            <a:prstDash val="solid"/>
          </a:ln>
        </p:spPr>
        <p:txBody>
          <a:bodyPr/>
          <a:lstStyle/>
          <a:p>
            <a:endParaRPr lang="en-US"/>
          </a:p>
        </p:txBody>
      </p:sp>
      <p:sp>
        <p:nvSpPr>
          <p:cNvPr id="25" name="Text 23"/>
          <p:cNvSpPr/>
          <p:nvPr/>
        </p:nvSpPr>
        <p:spPr>
          <a:xfrm>
            <a:off x="914400" y="4919472"/>
            <a:ext cx="502920" cy="18288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6" name="Text 24"/>
          <p:cNvSpPr/>
          <p:nvPr/>
        </p:nvSpPr>
        <p:spPr>
          <a:xfrm>
            <a:off x="1645920" y="4782312"/>
            <a:ext cx="2560320" cy="274320"/>
          </a:xfrm>
          <a:prstGeom prst="rect">
            <a:avLst/>
          </a:prstGeom>
          <a:noFill/>
          <a:ln/>
        </p:spPr>
        <p:txBody>
          <a:bodyPr wrap="square" lIns="0" tIns="0" rIns="0" bIns="0" rtlCol="0" anchor="ctr"/>
          <a:lstStyle/>
          <a:p>
            <a:pPr marL="0" indent="0">
              <a:buNone/>
            </a:pPr>
            <a:r>
              <a:rPr lang="en-US" sz="1800" b="1" dirty="0">
                <a:solidFill>
                  <a:srgbClr val="16324F"/>
                </a:solidFill>
              </a:rPr>
              <a:t>Verify</a:t>
            </a:r>
            <a:endParaRPr lang="en-US" sz="1800" dirty="0"/>
          </a:p>
        </p:txBody>
      </p:sp>
      <p:sp>
        <p:nvSpPr>
          <p:cNvPr id="27" name="Text 25"/>
          <p:cNvSpPr/>
          <p:nvPr/>
        </p:nvSpPr>
        <p:spPr>
          <a:xfrm>
            <a:off x="4160520" y="4782312"/>
            <a:ext cx="6309360" cy="365760"/>
          </a:xfrm>
          <a:prstGeom prst="rect">
            <a:avLst/>
          </a:prstGeom>
          <a:noFill/>
          <a:ln/>
        </p:spPr>
        <p:txBody>
          <a:bodyPr wrap="square" lIns="0" tIns="0" rIns="0" bIns="0" rtlCol="0" anchor="ctr"/>
          <a:lstStyle/>
          <a:p>
            <a:pPr marL="0" indent="0">
              <a:buNone/>
            </a:pPr>
            <a:r>
              <a:rPr lang="en-US" sz="1500" dirty="0">
                <a:solidFill>
                  <a:srgbClr val="1F2937"/>
                </a:solidFill>
              </a:rPr>
              <a:t>Employer checks signatures, issuer identity and credential status.</a:t>
            </a:r>
            <a:endParaRPr lang="en-US" sz="1500" dirty="0"/>
          </a:p>
        </p:txBody>
      </p:sp>
      <p:sp>
        <p:nvSpPr>
          <p:cNvPr id="28"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How Decentralized Identifiers are Created</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A DID is an identifier; the DID Document provides verification information.</a:t>
            </a:r>
            <a:endParaRPr lang="en-US" sz="1200" dirty="0"/>
          </a:p>
        </p:txBody>
      </p:sp>
      <p:sp>
        <p:nvSpPr>
          <p:cNvPr id="4" name="Shape 2"/>
          <p:cNvSpPr/>
          <p:nvPr/>
        </p:nvSpPr>
        <p:spPr>
          <a:xfrm>
            <a:off x="822960" y="1463040"/>
            <a:ext cx="3749040" cy="3474720"/>
          </a:xfrm>
          <a:prstGeom prst="roundRect">
            <a:avLst/>
          </a:prstGeom>
          <a:solidFill>
            <a:srgbClr val="FFFFFF"/>
          </a:solidFill>
          <a:ln w="12700">
            <a:solidFill>
              <a:srgbClr val="D7E0E5"/>
            </a:solidFill>
            <a:prstDash val="solid"/>
          </a:ln>
        </p:spPr>
        <p:txBody>
          <a:bodyPr/>
          <a:lstStyle/>
          <a:p>
            <a:endParaRPr lang="en-US"/>
          </a:p>
        </p:txBody>
      </p:sp>
      <p:sp>
        <p:nvSpPr>
          <p:cNvPr id="5" name="Text 3"/>
          <p:cNvSpPr/>
          <p:nvPr/>
        </p:nvSpPr>
        <p:spPr>
          <a:xfrm>
            <a:off x="1143000" y="1874520"/>
            <a:ext cx="3108960" cy="411480"/>
          </a:xfrm>
          <a:prstGeom prst="rect">
            <a:avLst/>
          </a:prstGeom>
          <a:noFill/>
          <a:ln/>
        </p:spPr>
        <p:txBody>
          <a:bodyPr wrap="square" lIns="0" tIns="0" rIns="0" bIns="0" rtlCol="0" anchor="ctr"/>
          <a:lstStyle/>
          <a:p>
            <a:pPr marL="0" indent="0" algn="ctr">
              <a:buNone/>
            </a:pPr>
            <a:r>
              <a:rPr lang="en-US" sz="2200" b="1" dirty="0">
                <a:solidFill>
                  <a:srgbClr val="2D6A6A"/>
                </a:solidFill>
              </a:rPr>
              <a:t>did:example:123456</a:t>
            </a:r>
            <a:endParaRPr lang="en-US" sz="2200" dirty="0"/>
          </a:p>
        </p:txBody>
      </p:sp>
      <p:sp>
        <p:nvSpPr>
          <p:cNvPr id="6" name="Text 4"/>
          <p:cNvSpPr/>
          <p:nvPr/>
        </p:nvSpPr>
        <p:spPr>
          <a:xfrm>
            <a:off x="2011680" y="2514600"/>
            <a:ext cx="1280160" cy="320040"/>
          </a:xfrm>
          <a:prstGeom prst="rect">
            <a:avLst/>
          </a:prstGeom>
          <a:noFill/>
          <a:ln/>
        </p:spPr>
        <p:txBody>
          <a:bodyPr wrap="square" lIns="0" tIns="0" rIns="0" bIns="0" rtlCol="0" anchor="ctr"/>
          <a:lstStyle/>
          <a:p>
            <a:pPr marL="0" indent="0" algn="ctr">
              <a:buNone/>
            </a:pPr>
            <a:r>
              <a:rPr lang="en-US" sz="1700" b="1" dirty="0">
                <a:solidFill>
                  <a:srgbClr val="16324F"/>
                </a:solidFill>
              </a:rPr>
              <a:t>DID</a:t>
            </a:r>
            <a:endParaRPr lang="en-US" sz="1700" dirty="0"/>
          </a:p>
        </p:txBody>
      </p:sp>
      <p:sp>
        <p:nvSpPr>
          <p:cNvPr id="7" name="Text 5"/>
          <p:cNvSpPr/>
          <p:nvPr/>
        </p:nvSpPr>
        <p:spPr>
          <a:xfrm>
            <a:off x="1234440" y="3063240"/>
            <a:ext cx="2926080" cy="731520"/>
          </a:xfrm>
          <a:prstGeom prst="rect">
            <a:avLst/>
          </a:prstGeom>
          <a:noFill/>
          <a:ln/>
        </p:spPr>
        <p:txBody>
          <a:bodyPr wrap="square" lIns="0" tIns="0" rIns="0" bIns="0" rtlCol="0" anchor="ctr"/>
          <a:lstStyle/>
          <a:p>
            <a:pPr marL="0" indent="0" algn="ctr">
              <a:buNone/>
            </a:pPr>
            <a:r>
              <a:rPr lang="en-US" sz="1500" dirty="0">
                <a:solidFill>
                  <a:srgbClr val="1F2937"/>
                </a:solidFill>
              </a:rPr>
              <a:t>A globally unique identifier under a DID method.</a:t>
            </a:r>
            <a:endParaRPr lang="en-US" sz="1500" dirty="0"/>
          </a:p>
        </p:txBody>
      </p:sp>
      <p:sp>
        <p:nvSpPr>
          <p:cNvPr id="8" name="Shape 6"/>
          <p:cNvSpPr/>
          <p:nvPr/>
        </p:nvSpPr>
        <p:spPr>
          <a:xfrm>
            <a:off x="4983480" y="2651760"/>
            <a:ext cx="640080" cy="640080"/>
          </a:xfrm>
          <a:prstGeom prst="chevron">
            <a:avLst/>
          </a:prstGeom>
          <a:solidFill>
            <a:srgbClr val="2D6A6A"/>
          </a:solidFill>
          <a:ln w="12700">
            <a:solidFill>
              <a:srgbClr val="2D6A6A"/>
            </a:solidFill>
            <a:prstDash val="solid"/>
          </a:ln>
        </p:spPr>
        <p:txBody>
          <a:bodyPr/>
          <a:lstStyle/>
          <a:p>
            <a:endParaRPr lang="en-US"/>
          </a:p>
        </p:txBody>
      </p:sp>
      <p:sp>
        <p:nvSpPr>
          <p:cNvPr id="9" name="Shape 7"/>
          <p:cNvSpPr/>
          <p:nvPr/>
        </p:nvSpPr>
        <p:spPr>
          <a:xfrm>
            <a:off x="6035040" y="1463040"/>
            <a:ext cx="5303520" cy="3474720"/>
          </a:xfrm>
          <a:prstGeom prst="roundRect">
            <a:avLst/>
          </a:prstGeom>
          <a:solidFill>
            <a:srgbClr val="FFFFFF"/>
          </a:solidFill>
          <a:ln w="12700">
            <a:solidFill>
              <a:srgbClr val="D7E0E5"/>
            </a:solidFill>
            <a:prstDash val="solid"/>
          </a:ln>
        </p:spPr>
        <p:txBody>
          <a:bodyPr/>
          <a:lstStyle/>
          <a:p>
            <a:endParaRPr lang="en-US"/>
          </a:p>
        </p:txBody>
      </p:sp>
      <p:sp>
        <p:nvSpPr>
          <p:cNvPr id="10" name="Text 8"/>
          <p:cNvSpPr/>
          <p:nvPr/>
        </p:nvSpPr>
        <p:spPr>
          <a:xfrm>
            <a:off x="6400800" y="1828800"/>
            <a:ext cx="4572000" cy="411480"/>
          </a:xfrm>
          <a:prstGeom prst="rect">
            <a:avLst/>
          </a:prstGeom>
          <a:noFill/>
          <a:ln/>
        </p:spPr>
        <p:txBody>
          <a:bodyPr wrap="square" lIns="0" tIns="0" rIns="0" bIns="0" rtlCol="0" anchor="ctr"/>
          <a:lstStyle/>
          <a:p>
            <a:pPr marL="0" indent="0">
              <a:buNone/>
            </a:pPr>
            <a:r>
              <a:rPr lang="en-US" sz="2200" b="1" dirty="0">
                <a:solidFill>
                  <a:srgbClr val="16324F"/>
                </a:solidFill>
              </a:rPr>
              <a:t>DID Document</a:t>
            </a:r>
            <a:endParaRPr lang="en-US" sz="2200" dirty="0"/>
          </a:p>
        </p:txBody>
      </p:sp>
      <p:sp>
        <p:nvSpPr>
          <p:cNvPr id="11" name="Text 9"/>
          <p:cNvSpPr/>
          <p:nvPr/>
        </p:nvSpPr>
        <p:spPr>
          <a:xfrm>
            <a:off x="6446520" y="2423160"/>
            <a:ext cx="4480560" cy="2011680"/>
          </a:xfrm>
          <a:prstGeom prst="rect">
            <a:avLst/>
          </a:prstGeom>
          <a:noFill/>
          <a:ln/>
        </p:spPr>
        <p:txBody>
          <a:bodyPr wrap="square" lIns="635" tIns="635" rIns="635" bIns="635" rtlCol="0" anchor="ctr"/>
          <a:lstStyle/>
          <a:p>
            <a:pPr marL="228600" indent="-228600">
              <a:buSzPct val="100000"/>
              <a:buChar char="•"/>
            </a:pPr>
            <a:r>
              <a:rPr lang="en-US" sz="1500" dirty="0">
                <a:solidFill>
                  <a:srgbClr val="1F2937"/>
                </a:solidFill>
              </a:rPr>
              <a:t>Verification methods / public keys</a:t>
            </a:r>
            <a:endParaRPr lang="en-US" sz="1500" dirty="0"/>
          </a:p>
          <a:p>
            <a:pPr marL="228600" indent="-228600">
              <a:buSzPct val="100000"/>
              <a:buChar char="•"/>
            </a:pPr>
            <a:r>
              <a:rPr lang="en-US" sz="1500" dirty="0">
                <a:solidFill>
                  <a:srgbClr val="1F2937"/>
                </a:solidFill>
              </a:rPr>
              <a:t>Authentication methods</a:t>
            </a:r>
            <a:endParaRPr lang="en-US" sz="1500" dirty="0"/>
          </a:p>
          <a:p>
            <a:pPr marL="228600" indent="-228600">
              <a:buSzPct val="100000"/>
              <a:buChar char="•"/>
            </a:pPr>
            <a:r>
              <a:rPr lang="en-US" sz="1500" dirty="0">
                <a:solidFill>
                  <a:srgbClr val="1F2937"/>
                </a:solidFill>
              </a:rPr>
              <a:t>Service endpoints (depending on method)</a:t>
            </a:r>
            <a:endParaRPr lang="en-US" sz="1500" dirty="0"/>
          </a:p>
          <a:p>
            <a:pPr marL="228600" indent="-228600">
              <a:buSzPct val="100000"/>
              <a:buChar char="•"/>
            </a:pPr>
            <a:r>
              <a:rPr lang="en-US" sz="1500" dirty="0">
                <a:solidFill>
                  <a:srgbClr val="1F2937"/>
                </a:solidFill>
              </a:rPr>
              <a:t>Other method-specific information</a:t>
            </a:r>
            <a:endParaRPr lang="en-US" sz="1500" dirty="0"/>
          </a:p>
        </p:txBody>
      </p:sp>
      <p:sp>
        <p:nvSpPr>
          <p:cNvPr id="12" name="Text 10"/>
          <p:cNvSpPr/>
          <p:nvPr/>
        </p:nvSpPr>
        <p:spPr>
          <a:xfrm>
            <a:off x="1280160" y="5349240"/>
            <a:ext cx="9692640" cy="457200"/>
          </a:xfrm>
          <a:prstGeom prst="rect">
            <a:avLst/>
          </a:prstGeom>
          <a:noFill/>
          <a:ln/>
        </p:spPr>
        <p:txBody>
          <a:bodyPr wrap="square" lIns="0" tIns="0" rIns="0" bIns="0" rtlCol="0" anchor="ctr"/>
          <a:lstStyle/>
          <a:p>
            <a:pPr marL="0" indent="0" algn="ctr">
              <a:buNone/>
            </a:pPr>
            <a:r>
              <a:rPr lang="en-US" sz="1700" b="1" dirty="0">
                <a:solidFill>
                  <a:srgbClr val="B85C5C"/>
                </a:solidFill>
              </a:rPr>
              <a:t>Resolution is method-specific — the DID Document is not always fetched from a blockchain.</a:t>
            </a:r>
            <a:endParaRPr lang="en-US" sz="17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How Verifiable Credentials (VCs) are issued</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Digitally signed claims from an issuer.</a:t>
            </a:r>
            <a:endParaRPr lang="en-US" sz="1200" dirty="0"/>
          </a:p>
        </p:txBody>
      </p:sp>
      <p:sp>
        <p:nvSpPr>
          <p:cNvPr id="4" name="Shape 2"/>
          <p:cNvSpPr/>
          <p:nvPr/>
        </p:nvSpPr>
        <p:spPr>
          <a:xfrm>
            <a:off x="914400" y="1417320"/>
            <a:ext cx="4572000" cy="4023360"/>
          </a:xfrm>
          <a:prstGeom prst="roundRect">
            <a:avLst/>
          </a:prstGeom>
          <a:solidFill>
            <a:srgbClr val="FFFFFF"/>
          </a:solidFill>
          <a:ln w="12700">
            <a:solidFill>
              <a:srgbClr val="D7E0E5"/>
            </a:solidFill>
            <a:prstDash val="solid"/>
          </a:ln>
        </p:spPr>
        <p:txBody>
          <a:bodyPr/>
          <a:lstStyle/>
          <a:p>
            <a:endParaRPr lang="en-US"/>
          </a:p>
        </p:txBody>
      </p:sp>
      <p:sp>
        <p:nvSpPr>
          <p:cNvPr id="5" name="Text 3"/>
          <p:cNvSpPr/>
          <p:nvPr/>
        </p:nvSpPr>
        <p:spPr>
          <a:xfrm>
            <a:off x="1280160" y="1783080"/>
            <a:ext cx="3840480" cy="411480"/>
          </a:xfrm>
          <a:prstGeom prst="rect">
            <a:avLst/>
          </a:prstGeom>
          <a:noFill/>
          <a:ln/>
        </p:spPr>
        <p:txBody>
          <a:bodyPr wrap="square" lIns="0" tIns="0" rIns="0" bIns="0" rtlCol="0" anchor="ctr"/>
          <a:lstStyle/>
          <a:p>
            <a:pPr marL="0" indent="0">
              <a:buNone/>
            </a:pPr>
            <a:r>
              <a:rPr lang="en-US" sz="2200" b="1" dirty="0">
                <a:solidFill>
                  <a:srgbClr val="16324F"/>
                </a:solidFill>
              </a:rPr>
              <a:t>University Degree Credential</a:t>
            </a:r>
            <a:endParaRPr lang="en-US" sz="2200" dirty="0"/>
          </a:p>
        </p:txBody>
      </p:sp>
      <p:sp>
        <p:nvSpPr>
          <p:cNvPr id="6" name="Text 4"/>
          <p:cNvSpPr/>
          <p:nvPr/>
        </p:nvSpPr>
        <p:spPr>
          <a:xfrm>
            <a:off x="1280160" y="2514600"/>
            <a:ext cx="3657600" cy="2011680"/>
          </a:xfrm>
          <a:prstGeom prst="rect">
            <a:avLst/>
          </a:prstGeom>
          <a:noFill/>
          <a:ln/>
        </p:spPr>
        <p:txBody>
          <a:bodyPr wrap="square" lIns="635" tIns="635" rIns="635" bIns="635" rtlCol="0" anchor="ctr"/>
          <a:lstStyle/>
          <a:p>
            <a:pPr marL="0" indent="0">
              <a:buNone/>
            </a:pPr>
            <a:r>
              <a:rPr lang="en-US" sz="1700" dirty="0">
                <a:solidFill>
                  <a:srgbClr val="1F2937"/>
                </a:solidFill>
              </a:rPr>
              <a:t>Issuer: University of Example</a:t>
            </a:r>
            <a:endParaRPr lang="en-US" sz="1700" dirty="0"/>
          </a:p>
          <a:p>
            <a:pPr marL="0" indent="0">
              <a:buNone/>
            </a:pPr>
            <a:r>
              <a:rPr lang="en-US" sz="1700" dirty="0">
                <a:solidFill>
                  <a:srgbClr val="1F2937"/>
                </a:solidFill>
              </a:rPr>
              <a:t>Subject: Student DID</a:t>
            </a:r>
            <a:endParaRPr lang="en-US" sz="1700" dirty="0"/>
          </a:p>
          <a:p>
            <a:pPr marL="0" indent="0">
              <a:buNone/>
            </a:pPr>
            <a:r>
              <a:rPr lang="en-US" sz="1700" dirty="0">
                <a:solidFill>
                  <a:srgbClr val="1F2937"/>
                </a:solidFill>
              </a:rPr>
              <a:t>Degree: MSc Computer Science</a:t>
            </a:r>
            <a:endParaRPr lang="en-US" sz="1700" dirty="0"/>
          </a:p>
          <a:p>
            <a:pPr marL="0" indent="0">
              <a:buNone/>
            </a:pPr>
            <a:r>
              <a:rPr lang="en-US" sz="1700" dirty="0">
                <a:solidFill>
                  <a:srgbClr val="1F2937"/>
                </a:solidFill>
              </a:rPr>
              <a:t>Issued: 2026</a:t>
            </a:r>
            <a:endParaRPr lang="en-US" sz="1700" dirty="0"/>
          </a:p>
          <a:p>
            <a:pPr marL="0" indent="0">
              <a:buNone/>
            </a:pPr>
            <a:r>
              <a:rPr lang="en-US" sz="1700" dirty="0">
                <a:solidFill>
                  <a:srgbClr val="1F2937"/>
                </a:solidFill>
              </a:rPr>
              <a:t>Proof: Digital signature</a:t>
            </a:r>
            <a:endParaRPr lang="en-US" sz="1700" dirty="0"/>
          </a:p>
        </p:txBody>
      </p:sp>
      <p:sp>
        <p:nvSpPr>
          <p:cNvPr id="7" name="Shape 5"/>
          <p:cNvSpPr/>
          <p:nvPr/>
        </p:nvSpPr>
        <p:spPr>
          <a:xfrm>
            <a:off x="6400800" y="1828800"/>
            <a:ext cx="4297680" cy="2926080"/>
          </a:xfrm>
          <a:prstGeom prst="roundRect">
            <a:avLst/>
          </a:prstGeom>
          <a:solidFill>
            <a:srgbClr val="DCEDEC"/>
          </a:solidFill>
          <a:ln w="12700">
            <a:solidFill>
              <a:srgbClr val="A7C8C6"/>
            </a:solidFill>
            <a:prstDash val="solid"/>
          </a:ln>
        </p:spPr>
        <p:txBody>
          <a:bodyPr/>
          <a:lstStyle/>
          <a:p>
            <a:endParaRPr lang="en-US"/>
          </a:p>
        </p:txBody>
      </p:sp>
      <p:sp>
        <p:nvSpPr>
          <p:cNvPr id="8" name="Text 6"/>
          <p:cNvSpPr/>
          <p:nvPr/>
        </p:nvSpPr>
        <p:spPr>
          <a:xfrm>
            <a:off x="6720840" y="2194560"/>
            <a:ext cx="3657600" cy="365760"/>
          </a:xfrm>
          <a:prstGeom prst="rect">
            <a:avLst/>
          </a:prstGeom>
          <a:noFill/>
          <a:ln/>
        </p:spPr>
        <p:txBody>
          <a:bodyPr wrap="square" lIns="0" tIns="0" rIns="0" bIns="0" rtlCol="0" anchor="ctr"/>
          <a:lstStyle/>
          <a:p>
            <a:pPr marL="0" indent="0" algn="ctr">
              <a:buNone/>
            </a:pPr>
            <a:r>
              <a:rPr lang="en-US" sz="2000" b="1" dirty="0">
                <a:solidFill>
                  <a:srgbClr val="16324F"/>
                </a:solidFill>
              </a:rPr>
              <a:t>What the signature gives us</a:t>
            </a:r>
            <a:endParaRPr lang="en-US" sz="2000" dirty="0"/>
          </a:p>
        </p:txBody>
      </p:sp>
      <p:sp>
        <p:nvSpPr>
          <p:cNvPr id="9" name="Text 7"/>
          <p:cNvSpPr/>
          <p:nvPr/>
        </p:nvSpPr>
        <p:spPr>
          <a:xfrm>
            <a:off x="6858000" y="2788920"/>
            <a:ext cx="3383280" cy="1554480"/>
          </a:xfrm>
          <a:prstGeom prst="rect">
            <a:avLst/>
          </a:prstGeom>
          <a:noFill/>
          <a:ln/>
        </p:spPr>
        <p:txBody>
          <a:bodyPr wrap="square" lIns="635" tIns="635" rIns="635" bIns="635" rtlCol="0" anchor="ctr"/>
          <a:lstStyle/>
          <a:p>
            <a:pPr marL="228600" indent="-228600">
              <a:buSzPct val="100000"/>
              <a:buChar char="•"/>
            </a:pPr>
            <a:r>
              <a:rPr lang="en-US" sz="1600" dirty="0">
                <a:solidFill>
                  <a:srgbClr val="1F2937"/>
                </a:solidFill>
              </a:rPr>
              <a:t>Authenticity: who signed it</a:t>
            </a:r>
            <a:endParaRPr lang="en-US" sz="1600" dirty="0"/>
          </a:p>
          <a:p>
            <a:pPr marL="228600" indent="-228600">
              <a:buSzPct val="100000"/>
              <a:buChar char="•"/>
            </a:pPr>
            <a:r>
              <a:rPr lang="en-US" sz="1600" dirty="0">
                <a:solidFill>
                  <a:srgbClr val="1F2937"/>
                </a:solidFill>
              </a:rPr>
              <a:t>Integrity: whether it was altered</a:t>
            </a:r>
            <a:endParaRPr lang="en-US" sz="1600" dirty="0"/>
          </a:p>
          <a:p>
            <a:pPr marL="228600" indent="-228600">
              <a:buSzPct val="100000"/>
              <a:buChar char="•"/>
            </a:pPr>
            <a:r>
              <a:rPr lang="en-US" sz="1600" dirty="0">
                <a:solidFill>
                  <a:srgbClr val="1F2937"/>
                </a:solidFill>
              </a:rPr>
              <a:t>Machine-verifiable proof</a:t>
            </a:r>
            <a:endParaRPr lang="en-US" sz="16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VC vs. Verifiable Presentation (VP)</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Receive a credential; present a proof.</a:t>
            </a:r>
            <a:endParaRPr lang="en-US" sz="1200" dirty="0"/>
          </a:p>
        </p:txBody>
      </p:sp>
      <p:sp>
        <p:nvSpPr>
          <p:cNvPr id="4" name="Shape 2"/>
          <p:cNvSpPr/>
          <p:nvPr/>
        </p:nvSpPr>
        <p:spPr>
          <a:xfrm>
            <a:off x="914400" y="1508760"/>
            <a:ext cx="4480560" cy="3566160"/>
          </a:xfrm>
          <a:prstGeom prst="roundRect">
            <a:avLst>
              <a:gd name="adj" fmla="val 2051"/>
            </a:avLst>
          </a:prstGeom>
          <a:solidFill>
            <a:srgbClr val="FFFFFF"/>
          </a:solidFill>
          <a:ln w="12700">
            <a:solidFill>
              <a:srgbClr val="D7E0E5"/>
            </a:solidFill>
            <a:prstDash val="solid"/>
          </a:ln>
        </p:spPr>
        <p:txBody>
          <a:bodyPr/>
          <a:lstStyle/>
          <a:p>
            <a:endParaRPr lang="en-US"/>
          </a:p>
        </p:txBody>
      </p:sp>
      <p:sp>
        <p:nvSpPr>
          <p:cNvPr id="5" name="Shape 3"/>
          <p:cNvSpPr/>
          <p:nvPr/>
        </p:nvSpPr>
        <p:spPr>
          <a:xfrm>
            <a:off x="914400" y="1508760"/>
            <a:ext cx="73152" cy="3566160"/>
          </a:xfrm>
          <a:prstGeom prst="rect">
            <a:avLst/>
          </a:prstGeom>
          <a:solidFill>
            <a:srgbClr val="2D6A6A"/>
          </a:solidFill>
          <a:ln w="12700">
            <a:solidFill>
              <a:srgbClr val="2D6A6A"/>
            </a:solidFill>
            <a:prstDash val="solid"/>
          </a:ln>
        </p:spPr>
        <p:txBody>
          <a:bodyPr/>
          <a:lstStyle/>
          <a:p>
            <a:endParaRPr lang="en-US"/>
          </a:p>
        </p:txBody>
      </p:sp>
      <p:sp>
        <p:nvSpPr>
          <p:cNvPr id="6" name="Text 4"/>
          <p:cNvSpPr/>
          <p:nvPr/>
        </p:nvSpPr>
        <p:spPr>
          <a:xfrm>
            <a:off x="1143000" y="1709928"/>
            <a:ext cx="4069080" cy="320040"/>
          </a:xfrm>
          <a:prstGeom prst="rect">
            <a:avLst/>
          </a:prstGeom>
          <a:noFill/>
          <a:ln/>
        </p:spPr>
        <p:txBody>
          <a:bodyPr wrap="square" lIns="0" tIns="0" rIns="0" bIns="0" rtlCol="0" anchor="ctr"/>
          <a:lstStyle/>
          <a:p>
            <a:pPr marL="0" indent="0">
              <a:buNone/>
            </a:pPr>
            <a:r>
              <a:rPr lang="en-US" sz="1700" b="1" dirty="0">
                <a:solidFill>
                  <a:srgbClr val="16324F"/>
                </a:solidFill>
              </a:rPr>
              <a:t>Verifiable Credential (VC)</a:t>
            </a:r>
            <a:endParaRPr lang="en-US" sz="1700" dirty="0"/>
          </a:p>
        </p:txBody>
      </p:sp>
      <p:sp>
        <p:nvSpPr>
          <p:cNvPr id="7" name="Text 5"/>
          <p:cNvSpPr/>
          <p:nvPr/>
        </p:nvSpPr>
        <p:spPr>
          <a:xfrm>
            <a:off x="1143000" y="2167128"/>
            <a:ext cx="4069080" cy="2743200"/>
          </a:xfrm>
          <a:prstGeom prst="rect">
            <a:avLst/>
          </a:prstGeom>
          <a:noFill/>
          <a:ln/>
        </p:spPr>
        <p:txBody>
          <a:bodyPr wrap="square" lIns="0" tIns="0" rIns="0" bIns="0" rtlCol="0" anchor="t"/>
          <a:lstStyle/>
          <a:p>
            <a:pPr marL="0" indent="0">
              <a:buNone/>
            </a:pPr>
            <a:r>
              <a:rPr lang="en-US" sz="1350" dirty="0">
                <a:solidFill>
                  <a:srgbClr val="1F2937"/>
                </a:solidFill>
              </a:rPr>
              <a:t>Issued by an issuer and held by the user.</a:t>
            </a:r>
            <a:endParaRPr lang="en-US" sz="1350" dirty="0"/>
          </a:p>
          <a:p>
            <a:pPr marL="0" indent="0">
              <a:buNone/>
            </a:pPr>
            <a:endParaRPr lang="en-US" sz="1350" dirty="0"/>
          </a:p>
          <a:p>
            <a:pPr marL="0" indent="0">
              <a:buNone/>
            </a:pPr>
            <a:r>
              <a:rPr lang="en-US" sz="1350" dirty="0">
                <a:solidFill>
                  <a:srgbClr val="1F2937"/>
                </a:solidFill>
              </a:rPr>
              <a:t>Example: the university-issued digital degree.</a:t>
            </a:r>
            <a:endParaRPr lang="en-US" sz="1350" dirty="0"/>
          </a:p>
        </p:txBody>
      </p:sp>
      <p:sp>
        <p:nvSpPr>
          <p:cNvPr id="8" name="Shape 6"/>
          <p:cNvSpPr/>
          <p:nvPr/>
        </p:nvSpPr>
        <p:spPr>
          <a:xfrm>
            <a:off x="6766560" y="1508760"/>
            <a:ext cx="4480560" cy="3566160"/>
          </a:xfrm>
          <a:prstGeom prst="roundRect">
            <a:avLst>
              <a:gd name="adj" fmla="val 2051"/>
            </a:avLst>
          </a:prstGeom>
          <a:solidFill>
            <a:srgbClr val="FFFFFF"/>
          </a:solidFill>
          <a:ln w="12700">
            <a:solidFill>
              <a:srgbClr val="D7E0E5"/>
            </a:solidFill>
            <a:prstDash val="solid"/>
          </a:ln>
        </p:spPr>
        <p:txBody>
          <a:bodyPr/>
          <a:lstStyle/>
          <a:p>
            <a:endParaRPr lang="en-US"/>
          </a:p>
        </p:txBody>
      </p:sp>
      <p:sp>
        <p:nvSpPr>
          <p:cNvPr id="9" name="Shape 7"/>
          <p:cNvSpPr/>
          <p:nvPr/>
        </p:nvSpPr>
        <p:spPr>
          <a:xfrm>
            <a:off x="6766560" y="1508760"/>
            <a:ext cx="73152" cy="3566160"/>
          </a:xfrm>
          <a:prstGeom prst="rect">
            <a:avLst/>
          </a:prstGeom>
          <a:solidFill>
            <a:srgbClr val="E7A84B"/>
          </a:solidFill>
          <a:ln w="12700">
            <a:solidFill>
              <a:srgbClr val="E7A84B"/>
            </a:solidFill>
            <a:prstDash val="solid"/>
          </a:ln>
        </p:spPr>
        <p:txBody>
          <a:bodyPr/>
          <a:lstStyle/>
          <a:p>
            <a:endParaRPr lang="en-US"/>
          </a:p>
        </p:txBody>
      </p:sp>
      <p:sp>
        <p:nvSpPr>
          <p:cNvPr id="10" name="Text 8"/>
          <p:cNvSpPr/>
          <p:nvPr/>
        </p:nvSpPr>
        <p:spPr>
          <a:xfrm>
            <a:off x="6995160" y="1709928"/>
            <a:ext cx="4069080" cy="320040"/>
          </a:xfrm>
          <a:prstGeom prst="rect">
            <a:avLst/>
          </a:prstGeom>
          <a:noFill/>
          <a:ln/>
        </p:spPr>
        <p:txBody>
          <a:bodyPr wrap="square" lIns="0" tIns="0" rIns="0" bIns="0" rtlCol="0" anchor="ctr"/>
          <a:lstStyle/>
          <a:p>
            <a:pPr marL="0" indent="0">
              <a:buNone/>
            </a:pPr>
            <a:r>
              <a:rPr lang="en-US" sz="1700" b="1" dirty="0">
                <a:solidFill>
                  <a:srgbClr val="16324F"/>
                </a:solidFill>
              </a:rPr>
              <a:t>Verifiable Presentation (VP)</a:t>
            </a:r>
            <a:endParaRPr lang="en-US" sz="1700" dirty="0"/>
          </a:p>
        </p:txBody>
      </p:sp>
      <p:sp>
        <p:nvSpPr>
          <p:cNvPr id="11" name="Text 9"/>
          <p:cNvSpPr/>
          <p:nvPr/>
        </p:nvSpPr>
        <p:spPr>
          <a:xfrm>
            <a:off x="6995160" y="2167128"/>
            <a:ext cx="4069080" cy="2743200"/>
          </a:xfrm>
          <a:prstGeom prst="rect">
            <a:avLst/>
          </a:prstGeom>
          <a:noFill/>
          <a:ln/>
        </p:spPr>
        <p:txBody>
          <a:bodyPr wrap="square" lIns="0" tIns="0" rIns="0" bIns="0" rtlCol="0" anchor="t"/>
          <a:lstStyle/>
          <a:p>
            <a:pPr marL="0" indent="0">
              <a:buNone/>
            </a:pPr>
            <a:r>
              <a:rPr lang="en-US" sz="1350" dirty="0">
                <a:solidFill>
                  <a:srgbClr val="1F2937"/>
                </a:solidFill>
              </a:rPr>
              <a:t>Created/presented by the holder for a verifier. It can contain one or more credentials or derived proofs.</a:t>
            </a:r>
            <a:endParaRPr lang="en-US" sz="1350" dirty="0"/>
          </a:p>
        </p:txBody>
      </p:sp>
      <p:sp>
        <p:nvSpPr>
          <p:cNvPr id="12" name="Shape 10"/>
          <p:cNvSpPr/>
          <p:nvPr/>
        </p:nvSpPr>
        <p:spPr>
          <a:xfrm>
            <a:off x="5715000" y="2788920"/>
            <a:ext cx="685800" cy="685800"/>
          </a:xfrm>
          <a:prstGeom prst="chevron">
            <a:avLst/>
          </a:prstGeom>
          <a:solidFill>
            <a:srgbClr val="16324F"/>
          </a:solidFill>
          <a:ln w="12700">
            <a:solidFill>
              <a:srgbClr val="16324F"/>
            </a:solidFill>
            <a:prstDash val="solid"/>
          </a:ln>
        </p:spPr>
        <p:txBody>
          <a:bodyPr/>
          <a:lstStyle/>
          <a:p>
            <a:endParaRPr lang="en-US"/>
          </a:p>
        </p:txBody>
      </p:sp>
      <p:sp>
        <p:nvSpPr>
          <p:cNvPr id="13" name="Text 11"/>
          <p:cNvSpPr/>
          <p:nvPr/>
        </p:nvSpPr>
        <p:spPr>
          <a:xfrm>
            <a:off x="2011680" y="5394960"/>
            <a:ext cx="8138160" cy="411480"/>
          </a:xfrm>
          <a:prstGeom prst="rect">
            <a:avLst/>
          </a:prstGeom>
          <a:noFill/>
          <a:ln/>
        </p:spPr>
        <p:txBody>
          <a:bodyPr wrap="square" lIns="0" tIns="0" rIns="0" bIns="0" rtlCol="0" anchor="ctr"/>
          <a:lstStyle/>
          <a:p>
            <a:pPr marL="0" indent="0" algn="ctr">
              <a:buNone/>
            </a:pPr>
            <a:r>
              <a:rPr lang="en-US" sz="2000" b="1" dirty="0">
                <a:solidFill>
                  <a:srgbClr val="16324F"/>
                </a:solidFill>
              </a:rPr>
              <a:t>VC = what I RECEIVE     •     VP = what I PRESENT</a:t>
            </a:r>
            <a:endParaRPr lang="en-US" sz="20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Where blockchain can fit</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Useful in some SSI architectures, but not a universal requirement.</a:t>
            </a:r>
            <a:endParaRPr lang="en-US" sz="1200" dirty="0"/>
          </a:p>
        </p:txBody>
      </p:sp>
      <p:sp>
        <p:nvSpPr>
          <p:cNvPr id="4" name="Shape 2"/>
          <p:cNvSpPr/>
          <p:nvPr/>
        </p:nvSpPr>
        <p:spPr>
          <a:xfrm>
            <a:off x="868680" y="1600200"/>
            <a:ext cx="3337560" cy="3566160"/>
          </a:xfrm>
          <a:prstGeom prst="roundRect">
            <a:avLst>
              <a:gd name="adj" fmla="val 2192"/>
            </a:avLst>
          </a:prstGeom>
          <a:solidFill>
            <a:srgbClr val="FFFFFF"/>
          </a:solidFill>
          <a:ln w="12700">
            <a:solidFill>
              <a:srgbClr val="D7E0E5"/>
            </a:solidFill>
            <a:prstDash val="solid"/>
          </a:ln>
        </p:spPr>
        <p:txBody>
          <a:bodyPr/>
          <a:lstStyle/>
          <a:p>
            <a:endParaRPr lang="en-US"/>
          </a:p>
        </p:txBody>
      </p:sp>
      <p:sp>
        <p:nvSpPr>
          <p:cNvPr id="5" name="Shape 3"/>
          <p:cNvSpPr/>
          <p:nvPr/>
        </p:nvSpPr>
        <p:spPr>
          <a:xfrm>
            <a:off x="868680" y="1600200"/>
            <a:ext cx="73152" cy="3566160"/>
          </a:xfrm>
          <a:prstGeom prst="rect">
            <a:avLst/>
          </a:prstGeom>
          <a:solidFill>
            <a:srgbClr val="2D6A6A"/>
          </a:solidFill>
          <a:ln w="12700">
            <a:solidFill>
              <a:srgbClr val="2D6A6A"/>
            </a:solidFill>
            <a:prstDash val="solid"/>
          </a:ln>
        </p:spPr>
        <p:txBody>
          <a:bodyPr/>
          <a:lstStyle/>
          <a:p>
            <a:endParaRPr lang="en-US"/>
          </a:p>
        </p:txBody>
      </p:sp>
      <p:sp>
        <p:nvSpPr>
          <p:cNvPr id="6" name="Text 4"/>
          <p:cNvSpPr/>
          <p:nvPr/>
        </p:nvSpPr>
        <p:spPr>
          <a:xfrm>
            <a:off x="1097280" y="1801368"/>
            <a:ext cx="2926080" cy="320040"/>
          </a:xfrm>
          <a:prstGeom prst="rect">
            <a:avLst/>
          </a:prstGeom>
          <a:noFill/>
          <a:ln/>
        </p:spPr>
        <p:txBody>
          <a:bodyPr wrap="square" lIns="0" tIns="0" rIns="0" bIns="0" rtlCol="0" anchor="ctr"/>
          <a:lstStyle/>
          <a:p>
            <a:pPr marL="0" indent="0">
              <a:buNone/>
            </a:pPr>
            <a:r>
              <a:rPr lang="en-US" sz="1700" b="1" dirty="0">
                <a:solidFill>
                  <a:srgbClr val="16324F"/>
                </a:solidFill>
              </a:rPr>
              <a:t>Public / shared registry</a:t>
            </a:r>
            <a:endParaRPr lang="en-US" sz="1700" dirty="0"/>
          </a:p>
        </p:txBody>
      </p:sp>
      <p:sp>
        <p:nvSpPr>
          <p:cNvPr id="7" name="Text 5"/>
          <p:cNvSpPr/>
          <p:nvPr/>
        </p:nvSpPr>
        <p:spPr>
          <a:xfrm>
            <a:off x="1097280" y="2258568"/>
            <a:ext cx="2926080" cy="2743200"/>
          </a:xfrm>
          <a:prstGeom prst="rect">
            <a:avLst/>
          </a:prstGeom>
          <a:noFill/>
          <a:ln/>
        </p:spPr>
        <p:txBody>
          <a:bodyPr wrap="square" lIns="0" tIns="0" rIns="0" bIns="0" rtlCol="0" anchor="t"/>
          <a:lstStyle/>
          <a:p>
            <a:pPr marL="0" indent="0">
              <a:buNone/>
            </a:pPr>
            <a:r>
              <a:rPr lang="en-US" sz="1350" dirty="0">
                <a:solidFill>
                  <a:srgbClr val="1F2937"/>
                </a:solidFill>
              </a:rPr>
              <a:t>DID-related data, public keys, status or anchors may be recorded depending on the design.</a:t>
            </a:r>
            <a:endParaRPr lang="en-US" sz="1350" dirty="0"/>
          </a:p>
        </p:txBody>
      </p:sp>
      <p:sp>
        <p:nvSpPr>
          <p:cNvPr id="8" name="Shape 6"/>
          <p:cNvSpPr/>
          <p:nvPr/>
        </p:nvSpPr>
        <p:spPr>
          <a:xfrm>
            <a:off x="4617720" y="1600200"/>
            <a:ext cx="3337560" cy="3566160"/>
          </a:xfrm>
          <a:prstGeom prst="roundRect">
            <a:avLst>
              <a:gd name="adj" fmla="val 2192"/>
            </a:avLst>
          </a:prstGeom>
          <a:solidFill>
            <a:srgbClr val="FFFFFF"/>
          </a:solidFill>
          <a:ln w="12700">
            <a:solidFill>
              <a:srgbClr val="D7E0E5"/>
            </a:solidFill>
            <a:prstDash val="solid"/>
          </a:ln>
        </p:spPr>
        <p:txBody>
          <a:bodyPr/>
          <a:lstStyle/>
          <a:p>
            <a:endParaRPr lang="en-US"/>
          </a:p>
        </p:txBody>
      </p:sp>
      <p:sp>
        <p:nvSpPr>
          <p:cNvPr id="9" name="Shape 7"/>
          <p:cNvSpPr/>
          <p:nvPr/>
        </p:nvSpPr>
        <p:spPr>
          <a:xfrm>
            <a:off x="4617720" y="1600200"/>
            <a:ext cx="73152" cy="3566160"/>
          </a:xfrm>
          <a:prstGeom prst="rect">
            <a:avLst/>
          </a:prstGeom>
          <a:solidFill>
            <a:srgbClr val="16324F"/>
          </a:solidFill>
          <a:ln w="12700">
            <a:solidFill>
              <a:srgbClr val="16324F"/>
            </a:solidFill>
            <a:prstDash val="solid"/>
          </a:ln>
        </p:spPr>
        <p:txBody>
          <a:bodyPr/>
          <a:lstStyle/>
          <a:p>
            <a:endParaRPr lang="en-US"/>
          </a:p>
        </p:txBody>
      </p:sp>
      <p:sp>
        <p:nvSpPr>
          <p:cNvPr id="10" name="Text 8"/>
          <p:cNvSpPr/>
          <p:nvPr/>
        </p:nvSpPr>
        <p:spPr>
          <a:xfrm>
            <a:off x="4846320" y="1801368"/>
            <a:ext cx="2926080" cy="320040"/>
          </a:xfrm>
          <a:prstGeom prst="rect">
            <a:avLst/>
          </a:prstGeom>
          <a:noFill/>
          <a:ln/>
        </p:spPr>
        <p:txBody>
          <a:bodyPr wrap="square" lIns="0" tIns="0" rIns="0" bIns="0" rtlCol="0" anchor="ctr"/>
          <a:lstStyle/>
          <a:p>
            <a:pPr marL="0" indent="0">
              <a:buNone/>
            </a:pPr>
            <a:r>
              <a:rPr lang="en-US" sz="1700" b="1" dirty="0">
                <a:solidFill>
                  <a:srgbClr val="16324F"/>
                </a:solidFill>
              </a:rPr>
              <a:t>Tamper evidence</a:t>
            </a:r>
            <a:endParaRPr lang="en-US" sz="1700" dirty="0"/>
          </a:p>
        </p:txBody>
      </p:sp>
      <p:sp>
        <p:nvSpPr>
          <p:cNvPr id="11" name="Text 9"/>
          <p:cNvSpPr/>
          <p:nvPr/>
        </p:nvSpPr>
        <p:spPr>
          <a:xfrm>
            <a:off x="4846320" y="2258568"/>
            <a:ext cx="2926080" cy="2743200"/>
          </a:xfrm>
          <a:prstGeom prst="rect">
            <a:avLst/>
          </a:prstGeom>
          <a:noFill/>
          <a:ln/>
        </p:spPr>
        <p:txBody>
          <a:bodyPr wrap="square" lIns="0" tIns="0" rIns="0" bIns="0" rtlCol="0" anchor="t"/>
          <a:lstStyle/>
          <a:p>
            <a:pPr marL="0" indent="0">
              <a:buNone/>
            </a:pPr>
            <a:r>
              <a:rPr lang="en-US" sz="1350" dirty="0">
                <a:solidFill>
                  <a:srgbClr val="1F2937"/>
                </a:solidFill>
              </a:rPr>
              <a:t>Consensus and cryptographic linking can make unauthorized history changes difficult.</a:t>
            </a:r>
            <a:endParaRPr lang="en-US" sz="1350" dirty="0"/>
          </a:p>
        </p:txBody>
      </p:sp>
      <p:sp>
        <p:nvSpPr>
          <p:cNvPr id="12" name="Shape 10"/>
          <p:cNvSpPr/>
          <p:nvPr/>
        </p:nvSpPr>
        <p:spPr>
          <a:xfrm>
            <a:off x="8366760" y="1600200"/>
            <a:ext cx="3337560" cy="3566160"/>
          </a:xfrm>
          <a:prstGeom prst="roundRect">
            <a:avLst>
              <a:gd name="adj" fmla="val 2192"/>
            </a:avLst>
          </a:prstGeom>
          <a:solidFill>
            <a:srgbClr val="FFFFFF"/>
          </a:solidFill>
          <a:ln w="12700">
            <a:solidFill>
              <a:srgbClr val="D7E0E5"/>
            </a:solidFill>
            <a:prstDash val="solid"/>
          </a:ln>
        </p:spPr>
        <p:txBody>
          <a:bodyPr/>
          <a:lstStyle/>
          <a:p>
            <a:endParaRPr lang="en-US"/>
          </a:p>
        </p:txBody>
      </p:sp>
      <p:sp>
        <p:nvSpPr>
          <p:cNvPr id="13" name="Shape 11"/>
          <p:cNvSpPr/>
          <p:nvPr/>
        </p:nvSpPr>
        <p:spPr>
          <a:xfrm>
            <a:off x="8366760" y="1600200"/>
            <a:ext cx="73152" cy="3566160"/>
          </a:xfrm>
          <a:prstGeom prst="rect">
            <a:avLst/>
          </a:prstGeom>
          <a:solidFill>
            <a:srgbClr val="E7A84B"/>
          </a:solidFill>
          <a:ln w="12700">
            <a:solidFill>
              <a:srgbClr val="E7A84B"/>
            </a:solidFill>
            <a:prstDash val="solid"/>
          </a:ln>
        </p:spPr>
        <p:txBody>
          <a:bodyPr/>
          <a:lstStyle/>
          <a:p>
            <a:endParaRPr lang="en-US"/>
          </a:p>
        </p:txBody>
      </p:sp>
      <p:sp>
        <p:nvSpPr>
          <p:cNvPr id="14" name="Text 12"/>
          <p:cNvSpPr/>
          <p:nvPr/>
        </p:nvSpPr>
        <p:spPr>
          <a:xfrm>
            <a:off x="8595360" y="1801368"/>
            <a:ext cx="2926080" cy="320040"/>
          </a:xfrm>
          <a:prstGeom prst="rect">
            <a:avLst/>
          </a:prstGeom>
          <a:noFill/>
          <a:ln/>
        </p:spPr>
        <p:txBody>
          <a:bodyPr wrap="square" lIns="0" tIns="0" rIns="0" bIns="0" rtlCol="0" anchor="ctr"/>
          <a:lstStyle/>
          <a:p>
            <a:pPr marL="0" indent="0">
              <a:buNone/>
            </a:pPr>
            <a:r>
              <a:rPr lang="en-US" sz="1700" b="1" dirty="0">
                <a:solidFill>
                  <a:srgbClr val="16324F"/>
                </a:solidFill>
              </a:rPr>
              <a:t>No personal-data assumption</a:t>
            </a:r>
            <a:endParaRPr lang="en-US" sz="1700" dirty="0"/>
          </a:p>
        </p:txBody>
      </p:sp>
      <p:sp>
        <p:nvSpPr>
          <p:cNvPr id="15" name="Text 13"/>
          <p:cNvSpPr/>
          <p:nvPr/>
        </p:nvSpPr>
        <p:spPr>
          <a:xfrm>
            <a:off x="8595360" y="2258568"/>
            <a:ext cx="2926080" cy="2743200"/>
          </a:xfrm>
          <a:prstGeom prst="rect">
            <a:avLst/>
          </a:prstGeom>
          <a:noFill/>
          <a:ln/>
        </p:spPr>
        <p:txBody>
          <a:bodyPr wrap="square" lIns="0" tIns="0" rIns="0" bIns="0" rtlCol="0" anchor="t"/>
          <a:lstStyle/>
          <a:p>
            <a:pPr marL="0" indent="0">
              <a:buNone/>
            </a:pPr>
            <a:r>
              <a:rPr lang="en-US" sz="1350" dirty="0">
                <a:solidFill>
                  <a:srgbClr val="1F2937"/>
                </a:solidFill>
              </a:rPr>
              <a:t>Good SSI designs avoid putting sensitive personal credentials directly on a public ledger.</a:t>
            </a:r>
            <a:endParaRPr lang="en-US" sz="1350" dirty="0"/>
          </a:p>
        </p:txBody>
      </p:sp>
      <p:sp>
        <p:nvSpPr>
          <p:cNvPr id="16" name="Text 14"/>
          <p:cNvSpPr/>
          <p:nvPr/>
        </p:nvSpPr>
        <p:spPr>
          <a:xfrm>
            <a:off x="1005840" y="5440680"/>
            <a:ext cx="10058400" cy="457200"/>
          </a:xfrm>
          <a:prstGeom prst="rect">
            <a:avLst/>
          </a:prstGeom>
          <a:noFill/>
          <a:ln/>
        </p:spPr>
        <p:txBody>
          <a:bodyPr wrap="square" lIns="0" tIns="0" rIns="0" bIns="0" rtlCol="0" anchor="ctr"/>
          <a:lstStyle/>
          <a:p>
            <a:pPr marL="0" indent="0" algn="ctr">
              <a:buNone/>
            </a:pPr>
            <a:r>
              <a:rPr lang="en-US" sz="1700" b="1" dirty="0">
                <a:solidFill>
                  <a:srgbClr val="B85C5C"/>
                </a:solidFill>
              </a:rPr>
              <a:t>Design principle: put only what must be publicly verifiable on shared infrastructure; keep personal data off-chain when possible.</a:t>
            </a:r>
            <a:endParaRPr lang="en-US" sz="17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Security and privacy benefits</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What SSI is trying to improve.</a:t>
            </a:r>
            <a:endParaRPr lang="en-US" sz="1200" dirty="0"/>
          </a:p>
        </p:txBody>
      </p:sp>
      <p:sp>
        <p:nvSpPr>
          <p:cNvPr id="4" name="Shape 2"/>
          <p:cNvSpPr/>
          <p:nvPr/>
        </p:nvSpPr>
        <p:spPr>
          <a:xfrm>
            <a:off x="777240" y="1417320"/>
            <a:ext cx="3383280" cy="356616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5" name="Shape 3"/>
          <p:cNvSpPr/>
          <p:nvPr/>
        </p:nvSpPr>
        <p:spPr>
          <a:xfrm>
            <a:off x="777240" y="1417320"/>
            <a:ext cx="73152" cy="3566160"/>
          </a:xfrm>
          <a:prstGeom prst="rect">
            <a:avLst/>
          </a:prstGeom>
          <a:solidFill>
            <a:srgbClr val="2D6A6A"/>
          </a:solidFill>
          <a:ln w="12700">
            <a:solidFill>
              <a:srgbClr val="2D6A6A"/>
            </a:solidFill>
            <a:prstDash val="solid"/>
          </a:ln>
        </p:spPr>
        <p:txBody>
          <a:bodyPr/>
          <a:lstStyle/>
          <a:p>
            <a:endParaRPr lang="en-US"/>
          </a:p>
        </p:txBody>
      </p:sp>
      <p:sp>
        <p:nvSpPr>
          <p:cNvPr id="6" name="Text 4"/>
          <p:cNvSpPr/>
          <p:nvPr/>
        </p:nvSpPr>
        <p:spPr>
          <a:xfrm>
            <a:off x="1005840" y="1618488"/>
            <a:ext cx="2971800" cy="320040"/>
          </a:xfrm>
          <a:prstGeom prst="rect">
            <a:avLst/>
          </a:prstGeom>
          <a:noFill/>
          <a:ln/>
        </p:spPr>
        <p:txBody>
          <a:bodyPr wrap="square" lIns="0" tIns="0" rIns="0" bIns="0" rtlCol="0" anchor="ctr"/>
          <a:lstStyle/>
          <a:p>
            <a:pPr marL="0" indent="0">
              <a:buNone/>
            </a:pPr>
            <a:r>
              <a:rPr lang="en-US" sz="1700" b="1" dirty="0">
                <a:solidFill>
                  <a:srgbClr val="16324F"/>
                </a:solidFill>
              </a:rPr>
              <a:t>User control</a:t>
            </a:r>
            <a:endParaRPr lang="en-US" sz="1700" dirty="0"/>
          </a:p>
        </p:txBody>
      </p:sp>
      <p:sp>
        <p:nvSpPr>
          <p:cNvPr id="7" name="Text 5"/>
          <p:cNvSpPr/>
          <p:nvPr/>
        </p:nvSpPr>
        <p:spPr>
          <a:xfrm>
            <a:off x="1005840" y="2075688"/>
            <a:ext cx="2971800" cy="2743200"/>
          </a:xfrm>
          <a:prstGeom prst="rect">
            <a:avLst/>
          </a:prstGeom>
          <a:noFill/>
          <a:ln/>
        </p:spPr>
        <p:txBody>
          <a:bodyPr wrap="square" lIns="0" tIns="0" rIns="0" bIns="0" rtlCol="0" anchor="t"/>
          <a:lstStyle/>
          <a:p>
            <a:pPr marL="0" indent="0">
              <a:buNone/>
            </a:pPr>
            <a:r>
              <a:rPr lang="en-US" sz="1350" dirty="0">
                <a:solidFill>
                  <a:srgbClr val="1F2937"/>
                </a:solidFill>
              </a:rPr>
              <a:t>Credentials can be held by the user instead of being available only through one provider.</a:t>
            </a:r>
            <a:endParaRPr lang="en-US" sz="1350" dirty="0"/>
          </a:p>
        </p:txBody>
      </p:sp>
      <p:sp>
        <p:nvSpPr>
          <p:cNvPr id="8" name="Shape 6"/>
          <p:cNvSpPr/>
          <p:nvPr/>
        </p:nvSpPr>
        <p:spPr>
          <a:xfrm>
            <a:off x="4389120" y="1417320"/>
            <a:ext cx="3383280" cy="356616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9" name="Shape 7"/>
          <p:cNvSpPr/>
          <p:nvPr/>
        </p:nvSpPr>
        <p:spPr>
          <a:xfrm>
            <a:off x="4389120" y="1417320"/>
            <a:ext cx="73152" cy="3566160"/>
          </a:xfrm>
          <a:prstGeom prst="rect">
            <a:avLst/>
          </a:prstGeom>
          <a:solidFill>
            <a:srgbClr val="16324F"/>
          </a:solidFill>
          <a:ln w="12700">
            <a:solidFill>
              <a:srgbClr val="16324F"/>
            </a:solidFill>
            <a:prstDash val="solid"/>
          </a:ln>
        </p:spPr>
        <p:txBody>
          <a:bodyPr/>
          <a:lstStyle/>
          <a:p>
            <a:endParaRPr lang="en-US"/>
          </a:p>
        </p:txBody>
      </p:sp>
      <p:sp>
        <p:nvSpPr>
          <p:cNvPr id="10" name="Text 8"/>
          <p:cNvSpPr/>
          <p:nvPr/>
        </p:nvSpPr>
        <p:spPr>
          <a:xfrm>
            <a:off x="4617720" y="1618488"/>
            <a:ext cx="2971800" cy="320040"/>
          </a:xfrm>
          <a:prstGeom prst="rect">
            <a:avLst/>
          </a:prstGeom>
          <a:noFill/>
          <a:ln/>
        </p:spPr>
        <p:txBody>
          <a:bodyPr wrap="square" lIns="0" tIns="0" rIns="0" bIns="0" rtlCol="0" anchor="ctr"/>
          <a:lstStyle/>
          <a:p>
            <a:pPr marL="0" indent="0">
              <a:buNone/>
            </a:pPr>
            <a:r>
              <a:rPr lang="en-US" sz="1700" b="1" dirty="0">
                <a:solidFill>
                  <a:srgbClr val="16324F"/>
                </a:solidFill>
              </a:rPr>
              <a:t>Cryptographic verification</a:t>
            </a:r>
            <a:endParaRPr lang="en-US" sz="1700" dirty="0"/>
          </a:p>
        </p:txBody>
      </p:sp>
      <p:sp>
        <p:nvSpPr>
          <p:cNvPr id="11" name="Text 9"/>
          <p:cNvSpPr/>
          <p:nvPr/>
        </p:nvSpPr>
        <p:spPr>
          <a:xfrm>
            <a:off x="4617720" y="2075688"/>
            <a:ext cx="2971800" cy="2743200"/>
          </a:xfrm>
          <a:prstGeom prst="rect">
            <a:avLst/>
          </a:prstGeom>
          <a:noFill/>
          <a:ln/>
        </p:spPr>
        <p:txBody>
          <a:bodyPr wrap="square" lIns="0" tIns="0" rIns="0" bIns="0" rtlCol="0" anchor="t"/>
          <a:lstStyle/>
          <a:p>
            <a:pPr marL="0" indent="0">
              <a:buNone/>
            </a:pPr>
            <a:r>
              <a:rPr lang="en-US" sz="1350" dirty="0">
                <a:solidFill>
                  <a:srgbClr val="1F2937"/>
                </a:solidFill>
              </a:rPr>
              <a:t>Digital signatures help detect forgery and unauthorized modification.</a:t>
            </a:r>
            <a:endParaRPr lang="en-US" sz="1350" dirty="0"/>
          </a:p>
        </p:txBody>
      </p:sp>
      <p:sp>
        <p:nvSpPr>
          <p:cNvPr id="12" name="Shape 10"/>
          <p:cNvSpPr/>
          <p:nvPr/>
        </p:nvSpPr>
        <p:spPr>
          <a:xfrm>
            <a:off x="8001000" y="1417320"/>
            <a:ext cx="3383280" cy="3566160"/>
          </a:xfrm>
          <a:prstGeom prst="roundRect">
            <a:avLst>
              <a:gd name="adj" fmla="val 2162"/>
            </a:avLst>
          </a:prstGeom>
          <a:solidFill>
            <a:srgbClr val="FFFFFF"/>
          </a:solidFill>
          <a:ln w="12700">
            <a:solidFill>
              <a:srgbClr val="D7E0E5"/>
            </a:solidFill>
            <a:prstDash val="solid"/>
          </a:ln>
        </p:spPr>
        <p:txBody>
          <a:bodyPr/>
          <a:lstStyle/>
          <a:p>
            <a:endParaRPr lang="en-US"/>
          </a:p>
        </p:txBody>
      </p:sp>
      <p:sp>
        <p:nvSpPr>
          <p:cNvPr id="13" name="Shape 11"/>
          <p:cNvSpPr/>
          <p:nvPr/>
        </p:nvSpPr>
        <p:spPr>
          <a:xfrm>
            <a:off x="8001000" y="1417320"/>
            <a:ext cx="73152" cy="3566160"/>
          </a:xfrm>
          <a:prstGeom prst="rect">
            <a:avLst/>
          </a:prstGeom>
          <a:solidFill>
            <a:srgbClr val="E7A84B"/>
          </a:solidFill>
          <a:ln w="12700">
            <a:solidFill>
              <a:srgbClr val="E7A84B"/>
            </a:solidFill>
            <a:prstDash val="solid"/>
          </a:ln>
        </p:spPr>
        <p:txBody>
          <a:bodyPr/>
          <a:lstStyle/>
          <a:p>
            <a:endParaRPr lang="en-US"/>
          </a:p>
        </p:txBody>
      </p:sp>
      <p:sp>
        <p:nvSpPr>
          <p:cNvPr id="14" name="Text 12"/>
          <p:cNvSpPr/>
          <p:nvPr/>
        </p:nvSpPr>
        <p:spPr>
          <a:xfrm>
            <a:off x="8229600" y="1618488"/>
            <a:ext cx="2971800" cy="320040"/>
          </a:xfrm>
          <a:prstGeom prst="rect">
            <a:avLst/>
          </a:prstGeom>
          <a:noFill/>
          <a:ln/>
        </p:spPr>
        <p:txBody>
          <a:bodyPr wrap="square" lIns="0" tIns="0" rIns="0" bIns="0" rtlCol="0" anchor="ctr"/>
          <a:lstStyle/>
          <a:p>
            <a:pPr marL="0" indent="0">
              <a:buNone/>
            </a:pPr>
            <a:r>
              <a:rPr lang="en-US" sz="1700" b="1" dirty="0">
                <a:solidFill>
                  <a:srgbClr val="16324F"/>
                </a:solidFill>
              </a:rPr>
              <a:t>Data minimization</a:t>
            </a:r>
            <a:endParaRPr lang="en-US" sz="1700" dirty="0"/>
          </a:p>
        </p:txBody>
      </p:sp>
      <p:sp>
        <p:nvSpPr>
          <p:cNvPr id="15" name="Text 13"/>
          <p:cNvSpPr/>
          <p:nvPr/>
        </p:nvSpPr>
        <p:spPr>
          <a:xfrm>
            <a:off x="8229600" y="2075688"/>
            <a:ext cx="2971800" cy="2743200"/>
          </a:xfrm>
          <a:prstGeom prst="rect">
            <a:avLst/>
          </a:prstGeom>
          <a:noFill/>
          <a:ln/>
        </p:spPr>
        <p:txBody>
          <a:bodyPr wrap="square" lIns="0" tIns="0" rIns="0" bIns="0" rtlCol="0" anchor="t"/>
          <a:lstStyle/>
          <a:p>
            <a:pPr marL="0" indent="0">
              <a:buNone/>
            </a:pPr>
            <a:r>
              <a:rPr lang="en-US" sz="1350" dirty="0">
                <a:solidFill>
                  <a:srgbClr val="1F2937"/>
                </a:solidFill>
              </a:rPr>
              <a:t>Some credential systems can reveal only the information needed for a transaction.</a:t>
            </a:r>
            <a:endParaRPr lang="en-US" sz="1350" dirty="0"/>
          </a:p>
        </p:txBody>
      </p:sp>
      <p:sp>
        <p:nvSpPr>
          <p:cNvPr id="16" name="Text 14"/>
          <p:cNvSpPr/>
          <p:nvPr/>
        </p:nvSpPr>
        <p:spPr>
          <a:xfrm>
            <a:off x="1005840" y="5349240"/>
            <a:ext cx="10058400" cy="594360"/>
          </a:xfrm>
          <a:prstGeom prst="rect">
            <a:avLst/>
          </a:prstGeom>
          <a:noFill/>
          <a:ln/>
        </p:spPr>
        <p:txBody>
          <a:bodyPr wrap="square" lIns="0" tIns="0" rIns="0" bIns="0" rtlCol="0" anchor="ctr"/>
          <a:lstStyle/>
          <a:p>
            <a:pPr marL="0" indent="0" algn="ctr">
              <a:buNone/>
            </a:pPr>
            <a:r>
              <a:rPr lang="en-US" sz="1700" b="1" dirty="0">
                <a:solidFill>
                  <a:srgbClr val="16324F"/>
                </a:solidFill>
              </a:rPr>
              <a:t>Example: prove “over 18” without necessarily revealing a full date of birth, if the credential scheme supports selective disclosure.</a:t>
            </a:r>
            <a:endParaRPr lang="en-US" sz="17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Challenges and limitations</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SSI moves some responsibilities to users and ecosystem participants.</a:t>
            </a:r>
            <a:endParaRPr lang="en-US" sz="1200" dirty="0"/>
          </a:p>
        </p:txBody>
      </p:sp>
      <p:sp>
        <p:nvSpPr>
          <p:cNvPr id="4" name="Shape 2"/>
          <p:cNvSpPr/>
          <p:nvPr/>
        </p:nvSpPr>
        <p:spPr>
          <a:xfrm>
            <a:off x="868680" y="1417320"/>
            <a:ext cx="5120640" cy="1874520"/>
          </a:xfrm>
          <a:prstGeom prst="roundRect">
            <a:avLst>
              <a:gd name="adj" fmla="val 3902"/>
            </a:avLst>
          </a:prstGeom>
          <a:solidFill>
            <a:srgbClr val="FFFFFF"/>
          </a:solidFill>
          <a:ln w="12700">
            <a:solidFill>
              <a:srgbClr val="D7E0E5"/>
            </a:solidFill>
            <a:prstDash val="solid"/>
          </a:ln>
        </p:spPr>
        <p:txBody>
          <a:bodyPr/>
          <a:lstStyle/>
          <a:p>
            <a:endParaRPr lang="en-US"/>
          </a:p>
        </p:txBody>
      </p:sp>
      <p:sp>
        <p:nvSpPr>
          <p:cNvPr id="5" name="Shape 3"/>
          <p:cNvSpPr/>
          <p:nvPr/>
        </p:nvSpPr>
        <p:spPr>
          <a:xfrm>
            <a:off x="868680" y="1417320"/>
            <a:ext cx="73152" cy="1874520"/>
          </a:xfrm>
          <a:prstGeom prst="rect">
            <a:avLst/>
          </a:prstGeom>
          <a:solidFill>
            <a:srgbClr val="B85C5C"/>
          </a:solidFill>
          <a:ln w="12700">
            <a:solidFill>
              <a:srgbClr val="B85C5C"/>
            </a:solidFill>
            <a:prstDash val="solid"/>
          </a:ln>
        </p:spPr>
        <p:txBody>
          <a:bodyPr/>
          <a:lstStyle/>
          <a:p>
            <a:endParaRPr lang="en-US"/>
          </a:p>
        </p:txBody>
      </p:sp>
      <p:sp>
        <p:nvSpPr>
          <p:cNvPr id="6" name="Text 4"/>
          <p:cNvSpPr/>
          <p:nvPr/>
        </p:nvSpPr>
        <p:spPr>
          <a:xfrm>
            <a:off x="1097280" y="1618488"/>
            <a:ext cx="4709160" cy="320040"/>
          </a:xfrm>
          <a:prstGeom prst="rect">
            <a:avLst/>
          </a:prstGeom>
          <a:noFill/>
          <a:ln/>
        </p:spPr>
        <p:txBody>
          <a:bodyPr wrap="square" lIns="0" tIns="0" rIns="0" bIns="0" rtlCol="0" anchor="ctr"/>
          <a:lstStyle/>
          <a:p>
            <a:pPr marL="0" indent="0">
              <a:buNone/>
            </a:pPr>
            <a:r>
              <a:rPr lang="en-US" sz="1700" b="1" dirty="0">
                <a:solidFill>
                  <a:srgbClr val="16324F"/>
                </a:solidFill>
              </a:rPr>
              <a:t>Key management</a:t>
            </a:r>
            <a:endParaRPr lang="en-US" sz="1700" dirty="0"/>
          </a:p>
        </p:txBody>
      </p:sp>
      <p:sp>
        <p:nvSpPr>
          <p:cNvPr id="7" name="Text 5"/>
          <p:cNvSpPr/>
          <p:nvPr/>
        </p:nvSpPr>
        <p:spPr>
          <a:xfrm>
            <a:off x="1097280" y="2075688"/>
            <a:ext cx="4709160" cy="1051560"/>
          </a:xfrm>
          <a:prstGeom prst="rect">
            <a:avLst/>
          </a:prstGeom>
          <a:noFill/>
          <a:ln/>
        </p:spPr>
        <p:txBody>
          <a:bodyPr wrap="square" lIns="0" tIns="0" rIns="0" bIns="0" rtlCol="0" anchor="t"/>
          <a:lstStyle/>
          <a:p>
            <a:pPr marL="0" indent="0">
              <a:buNone/>
            </a:pPr>
            <a:r>
              <a:rPr lang="en-US" sz="1350" dirty="0">
                <a:solidFill>
                  <a:srgbClr val="1F2937"/>
                </a:solidFill>
              </a:rPr>
              <a:t>Users need secure key storage, backup, rotation and recovery mechanisms.</a:t>
            </a:r>
            <a:endParaRPr lang="en-US" sz="1350" dirty="0"/>
          </a:p>
        </p:txBody>
      </p:sp>
      <p:sp>
        <p:nvSpPr>
          <p:cNvPr id="8" name="Shape 6"/>
          <p:cNvSpPr/>
          <p:nvPr/>
        </p:nvSpPr>
        <p:spPr>
          <a:xfrm>
            <a:off x="6172200" y="1417320"/>
            <a:ext cx="5120640" cy="1874520"/>
          </a:xfrm>
          <a:prstGeom prst="roundRect">
            <a:avLst>
              <a:gd name="adj" fmla="val 3902"/>
            </a:avLst>
          </a:prstGeom>
          <a:solidFill>
            <a:srgbClr val="FFFFFF"/>
          </a:solidFill>
          <a:ln w="12700">
            <a:solidFill>
              <a:srgbClr val="D7E0E5"/>
            </a:solidFill>
            <a:prstDash val="solid"/>
          </a:ln>
        </p:spPr>
        <p:txBody>
          <a:bodyPr/>
          <a:lstStyle/>
          <a:p>
            <a:endParaRPr lang="en-US"/>
          </a:p>
        </p:txBody>
      </p:sp>
      <p:sp>
        <p:nvSpPr>
          <p:cNvPr id="9" name="Shape 7"/>
          <p:cNvSpPr/>
          <p:nvPr/>
        </p:nvSpPr>
        <p:spPr>
          <a:xfrm>
            <a:off x="6172200" y="1417320"/>
            <a:ext cx="73152" cy="1874520"/>
          </a:xfrm>
          <a:prstGeom prst="rect">
            <a:avLst/>
          </a:prstGeom>
          <a:solidFill>
            <a:srgbClr val="E7A84B"/>
          </a:solidFill>
          <a:ln w="12700">
            <a:solidFill>
              <a:srgbClr val="E7A84B"/>
            </a:solidFill>
            <a:prstDash val="solid"/>
          </a:ln>
        </p:spPr>
        <p:txBody>
          <a:bodyPr/>
          <a:lstStyle/>
          <a:p>
            <a:endParaRPr lang="en-US"/>
          </a:p>
        </p:txBody>
      </p:sp>
      <p:sp>
        <p:nvSpPr>
          <p:cNvPr id="10" name="Text 8"/>
          <p:cNvSpPr/>
          <p:nvPr/>
        </p:nvSpPr>
        <p:spPr>
          <a:xfrm>
            <a:off x="6400800" y="1618488"/>
            <a:ext cx="4709160" cy="320040"/>
          </a:xfrm>
          <a:prstGeom prst="rect">
            <a:avLst/>
          </a:prstGeom>
          <a:noFill/>
          <a:ln/>
        </p:spPr>
        <p:txBody>
          <a:bodyPr wrap="square" lIns="0" tIns="0" rIns="0" bIns="0" rtlCol="0" anchor="ctr"/>
          <a:lstStyle/>
          <a:p>
            <a:pPr marL="0" indent="0">
              <a:buNone/>
            </a:pPr>
            <a:r>
              <a:rPr lang="en-US" sz="1700" b="1" dirty="0">
                <a:solidFill>
                  <a:srgbClr val="16324F"/>
                </a:solidFill>
              </a:rPr>
              <a:t>Issuer trust</a:t>
            </a:r>
            <a:endParaRPr lang="en-US" sz="1700" dirty="0"/>
          </a:p>
        </p:txBody>
      </p:sp>
      <p:sp>
        <p:nvSpPr>
          <p:cNvPr id="11" name="Text 9"/>
          <p:cNvSpPr/>
          <p:nvPr/>
        </p:nvSpPr>
        <p:spPr>
          <a:xfrm>
            <a:off x="6400800" y="2075688"/>
            <a:ext cx="4709160" cy="1051560"/>
          </a:xfrm>
          <a:prstGeom prst="rect">
            <a:avLst/>
          </a:prstGeom>
          <a:noFill/>
          <a:ln/>
        </p:spPr>
        <p:txBody>
          <a:bodyPr wrap="square" lIns="0" tIns="0" rIns="0" bIns="0" rtlCol="0" anchor="t"/>
          <a:lstStyle/>
          <a:p>
            <a:pPr marL="0" indent="0">
              <a:buNone/>
            </a:pPr>
            <a:r>
              <a:rPr lang="en-US" sz="1350" dirty="0">
                <a:solidFill>
                  <a:srgbClr val="1F2937"/>
                </a:solidFill>
              </a:rPr>
              <a:t>A valid signature does not guarantee that the issuer is authoritative or honest.</a:t>
            </a:r>
            <a:endParaRPr lang="en-US" sz="1350" dirty="0"/>
          </a:p>
        </p:txBody>
      </p:sp>
      <p:sp>
        <p:nvSpPr>
          <p:cNvPr id="12" name="Shape 10"/>
          <p:cNvSpPr/>
          <p:nvPr/>
        </p:nvSpPr>
        <p:spPr>
          <a:xfrm>
            <a:off x="868680" y="3703320"/>
            <a:ext cx="5120640" cy="1874520"/>
          </a:xfrm>
          <a:prstGeom prst="roundRect">
            <a:avLst>
              <a:gd name="adj" fmla="val 3902"/>
            </a:avLst>
          </a:prstGeom>
          <a:solidFill>
            <a:srgbClr val="FFFFFF"/>
          </a:solidFill>
          <a:ln w="12700">
            <a:solidFill>
              <a:srgbClr val="D7E0E5"/>
            </a:solidFill>
            <a:prstDash val="solid"/>
          </a:ln>
        </p:spPr>
        <p:txBody>
          <a:bodyPr/>
          <a:lstStyle/>
          <a:p>
            <a:endParaRPr lang="en-US"/>
          </a:p>
        </p:txBody>
      </p:sp>
      <p:sp>
        <p:nvSpPr>
          <p:cNvPr id="13" name="Shape 11"/>
          <p:cNvSpPr/>
          <p:nvPr/>
        </p:nvSpPr>
        <p:spPr>
          <a:xfrm>
            <a:off x="868680" y="3703320"/>
            <a:ext cx="73152" cy="1874520"/>
          </a:xfrm>
          <a:prstGeom prst="rect">
            <a:avLst/>
          </a:prstGeom>
          <a:solidFill>
            <a:srgbClr val="2D6A6A"/>
          </a:solidFill>
          <a:ln w="12700">
            <a:solidFill>
              <a:srgbClr val="2D6A6A"/>
            </a:solidFill>
            <a:prstDash val="solid"/>
          </a:ln>
        </p:spPr>
        <p:txBody>
          <a:bodyPr/>
          <a:lstStyle/>
          <a:p>
            <a:endParaRPr lang="en-US"/>
          </a:p>
        </p:txBody>
      </p:sp>
      <p:sp>
        <p:nvSpPr>
          <p:cNvPr id="14" name="Text 12"/>
          <p:cNvSpPr/>
          <p:nvPr/>
        </p:nvSpPr>
        <p:spPr>
          <a:xfrm>
            <a:off x="1097280" y="3904488"/>
            <a:ext cx="4709160" cy="320040"/>
          </a:xfrm>
          <a:prstGeom prst="rect">
            <a:avLst/>
          </a:prstGeom>
          <a:noFill/>
          <a:ln/>
        </p:spPr>
        <p:txBody>
          <a:bodyPr wrap="square" lIns="0" tIns="0" rIns="0" bIns="0" rtlCol="0" anchor="ctr"/>
          <a:lstStyle/>
          <a:p>
            <a:pPr marL="0" indent="0">
              <a:buNone/>
            </a:pPr>
            <a:r>
              <a:rPr lang="en-US" sz="1700" b="1" dirty="0">
                <a:solidFill>
                  <a:srgbClr val="16324F"/>
                </a:solidFill>
              </a:rPr>
              <a:t>Adoption &amp; interoperability</a:t>
            </a:r>
            <a:endParaRPr lang="en-US" sz="1700" dirty="0"/>
          </a:p>
        </p:txBody>
      </p:sp>
      <p:sp>
        <p:nvSpPr>
          <p:cNvPr id="15" name="Text 13"/>
          <p:cNvSpPr/>
          <p:nvPr/>
        </p:nvSpPr>
        <p:spPr>
          <a:xfrm>
            <a:off x="1097280" y="4361688"/>
            <a:ext cx="4709160" cy="1051560"/>
          </a:xfrm>
          <a:prstGeom prst="rect">
            <a:avLst/>
          </a:prstGeom>
          <a:noFill/>
          <a:ln/>
        </p:spPr>
        <p:txBody>
          <a:bodyPr wrap="square" lIns="0" tIns="0" rIns="0" bIns="0" rtlCol="0" anchor="t"/>
          <a:lstStyle/>
          <a:p>
            <a:pPr marL="0" indent="0">
              <a:buNone/>
            </a:pPr>
            <a:r>
              <a:rPr lang="en-US" sz="1350" dirty="0">
                <a:solidFill>
                  <a:srgbClr val="1F2937"/>
                </a:solidFill>
              </a:rPr>
              <a:t>Wallets, issuers and verifiers must support compatible standards and policies.</a:t>
            </a:r>
            <a:endParaRPr lang="en-US" sz="1350" dirty="0"/>
          </a:p>
        </p:txBody>
      </p:sp>
      <p:sp>
        <p:nvSpPr>
          <p:cNvPr id="16" name="Shape 14"/>
          <p:cNvSpPr/>
          <p:nvPr/>
        </p:nvSpPr>
        <p:spPr>
          <a:xfrm>
            <a:off x="6172200" y="3703320"/>
            <a:ext cx="5120640" cy="1874520"/>
          </a:xfrm>
          <a:prstGeom prst="roundRect">
            <a:avLst>
              <a:gd name="adj" fmla="val 3902"/>
            </a:avLst>
          </a:prstGeom>
          <a:solidFill>
            <a:srgbClr val="FFFFFF"/>
          </a:solidFill>
          <a:ln w="12700">
            <a:solidFill>
              <a:srgbClr val="D7E0E5"/>
            </a:solidFill>
            <a:prstDash val="solid"/>
          </a:ln>
        </p:spPr>
        <p:txBody>
          <a:bodyPr/>
          <a:lstStyle/>
          <a:p>
            <a:endParaRPr lang="en-US"/>
          </a:p>
        </p:txBody>
      </p:sp>
      <p:sp>
        <p:nvSpPr>
          <p:cNvPr id="17" name="Shape 15"/>
          <p:cNvSpPr/>
          <p:nvPr/>
        </p:nvSpPr>
        <p:spPr>
          <a:xfrm>
            <a:off x="6172200" y="3703320"/>
            <a:ext cx="73152" cy="1874520"/>
          </a:xfrm>
          <a:prstGeom prst="rect">
            <a:avLst/>
          </a:prstGeom>
          <a:solidFill>
            <a:srgbClr val="16324F"/>
          </a:solidFill>
          <a:ln w="12700">
            <a:solidFill>
              <a:srgbClr val="16324F"/>
            </a:solidFill>
            <a:prstDash val="solid"/>
          </a:ln>
        </p:spPr>
        <p:txBody>
          <a:bodyPr/>
          <a:lstStyle/>
          <a:p>
            <a:endParaRPr lang="en-US"/>
          </a:p>
        </p:txBody>
      </p:sp>
      <p:sp>
        <p:nvSpPr>
          <p:cNvPr id="18" name="Text 16"/>
          <p:cNvSpPr/>
          <p:nvPr/>
        </p:nvSpPr>
        <p:spPr>
          <a:xfrm>
            <a:off x="6400800" y="3904488"/>
            <a:ext cx="4709160" cy="320040"/>
          </a:xfrm>
          <a:prstGeom prst="rect">
            <a:avLst/>
          </a:prstGeom>
          <a:noFill/>
          <a:ln/>
        </p:spPr>
        <p:txBody>
          <a:bodyPr wrap="square" lIns="0" tIns="0" rIns="0" bIns="0" rtlCol="0" anchor="ctr"/>
          <a:lstStyle/>
          <a:p>
            <a:pPr marL="0" indent="0">
              <a:buNone/>
            </a:pPr>
            <a:r>
              <a:rPr lang="en-US" sz="1700" b="1" dirty="0">
                <a:solidFill>
                  <a:srgbClr val="16324F"/>
                </a:solidFill>
              </a:rPr>
              <a:t>Legal &amp; governance questions</a:t>
            </a:r>
            <a:endParaRPr lang="en-US" sz="1700" dirty="0"/>
          </a:p>
        </p:txBody>
      </p:sp>
      <p:sp>
        <p:nvSpPr>
          <p:cNvPr id="19" name="Text 17"/>
          <p:cNvSpPr/>
          <p:nvPr/>
        </p:nvSpPr>
        <p:spPr>
          <a:xfrm>
            <a:off x="6400800" y="4361688"/>
            <a:ext cx="4709160" cy="1051560"/>
          </a:xfrm>
          <a:prstGeom prst="rect">
            <a:avLst/>
          </a:prstGeom>
          <a:noFill/>
          <a:ln/>
        </p:spPr>
        <p:txBody>
          <a:bodyPr wrap="square" lIns="0" tIns="0" rIns="0" bIns="0" rtlCol="0" anchor="t"/>
          <a:lstStyle/>
          <a:p>
            <a:pPr marL="0" indent="0">
              <a:buNone/>
            </a:pPr>
            <a:r>
              <a:rPr lang="en-US" sz="1350" dirty="0">
                <a:solidFill>
                  <a:srgbClr val="1F2937"/>
                </a:solidFill>
              </a:rPr>
              <a:t>Revocation, liability, privacy regulation and cross-border recognition can be complex.</a:t>
            </a:r>
            <a:endParaRPr lang="en-US" sz="13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Traditional vs. Federated vs. SSI</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A conceptual comparison — each model has trade-offs.</a:t>
            </a:r>
            <a:endParaRPr lang="en-US" sz="1200" dirty="0"/>
          </a:p>
        </p:txBody>
      </p:sp>
      <p:sp>
        <p:nvSpPr>
          <p:cNvPr id="4" name="Shape 2"/>
          <p:cNvSpPr/>
          <p:nvPr/>
        </p:nvSpPr>
        <p:spPr>
          <a:xfrm>
            <a:off x="731520" y="1417320"/>
            <a:ext cx="3429000" cy="4160520"/>
          </a:xfrm>
          <a:prstGeom prst="roundRect">
            <a:avLst/>
          </a:prstGeom>
          <a:solidFill>
            <a:srgbClr val="FFFFFF"/>
          </a:solidFill>
          <a:ln w="19050">
            <a:solidFill>
              <a:srgbClr val="D7E0E5"/>
            </a:solidFill>
            <a:prstDash val="solid"/>
          </a:ln>
        </p:spPr>
        <p:txBody>
          <a:bodyPr/>
          <a:lstStyle/>
          <a:p>
            <a:endParaRPr lang="en-US"/>
          </a:p>
        </p:txBody>
      </p:sp>
      <p:sp>
        <p:nvSpPr>
          <p:cNvPr id="5" name="Text 3"/>
          <p:cNvSpPr/>
          <p:nvPr/>
        </p:nvSpPr>
        <p:spPr>
          <a:xfrm>
            <a:off x="960120" y="1783080"/>
            <a:ext cx="2971800" cy="365760"/>
          </a:xfrm>
          <a:prstGeom prst="rect">
            <a:avLst/>
          </a:prstGeom>
          <a:noFill/>
          <a:ln/>
        </p:spPr>
        <p:txBody>
          <a:bodyPr wrap="square" lIns="0" tIns="0" rIns="0" bIns="0" rtlCol="0" anchor="ctr"/>
          <a:lstStyle/>
          <a:p>
            <a:pPr marL="0" indent="0" algn="ctr">
              <a:buNone/>
            </a:pPr>
            <a:r>
              <a:rPr lang="en-US" sz="2200" b="1" dirty="0">
                <a:solidFill>
                  <a:srgbClr val="16324F"/>
                </a:solidFill>
              </a:rPr>
              <a:t>Centralized</a:t>
            </a:r>
            <a:endParaRPr lang="en-US" sz="2200" dirty="0"/>
          </a:p>
        </p:txBody>
      </p:sp>
      <p:sp>
        <p:nvSpPr>
          <p:cNvPr id="6" name="Text 4"/>
          <p:cNvSpPr/>
          <p:nvPr/>
        </p:nvSpPr>
        <p:spPr>
          <a:xfrm>
            <a:off x="1051560" y="251460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Control</a:t>
            </a:r>
            <a:endParaRPr lang="en-US" sz="1100" dirty="0"/>
          </a:p>
        </p:txBody>
      </p:sp>
      <p:sp>
        <p:nvSpPr>
          <p:cNvPr id="7" name="Text 5"/>
          <p:cNvSpPr/>
          <p:nvPr/>
        </p:nvSpPr>
        <p:spPr>
          <a:xfrm>
            <a:off x="1051560" y="2788920"/>
            <a:ext cx="2743200" cy="594360"/>
          </a:xfrm>
          <a:prstGeom prst="rect">
            <a:avLst/>
          </a:prstGeom>
          <a:noFill/>
          <a:ln/>
        </p:spPr>
        <p:txBody>
          <a:bodyPr wrap="square" lIns="0" tIns="0" rIns="0" bIns="0" rtlCol="0" anchor="ctr"/>
          <a:lstStyle/>
          <a:p>
            <a:pPr marL="0" indent="0">
              <a:buNone/>
            </a:pPr>
            <a:r>
              <a:rPr lang="en-US" sz="1400" dirty="0">
                <a:solidFill>
                  <a:srgbClr val="1F2937"/>
                </a:solidFill>
              </a:rPr>
              <a:t>One provider controls identity records</a:t>
            </a:r>
            <a:endParaRPr lang="en-US" sz="1400" dirty="0"/>
          </a:p>
        </p:txBody>
      </p:sp>
      <p:sp>
        <p:nvSpPr>
          <p:cNvPr id="8" name="Text 6"/>
          <p:cNvSpPr/>
          <p:nvPr/>
        </p:nvSpPr>
        <p:spPr>
          <a:xfrm>
            <a:off x="1051560" y="356616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Strength</a:t>
            </a:r>
            <a:endParaRPr lang="en-US" sz="1100" dirty="0"/>
          </a:p>
        </p:txBody>
      </p:sp>
      <p:sp>
        <p:nvSpPr>
          <p:cNvPr id="9" name="Text 7"/>
          <p:cNvSpPr/>
          <p:nvPr/>
        </p:nvSpPr>
        <p:spPr>
          <a:xfrm>
            <a:off x="1051560" y="3840480"/>
            <a:ext cx="2743200" cy="457200"/>
          </a:xfrm>
          <a:prstGeom prst="rect">
            <a:avLst/>
          </a:prstGeom>
          <a:noFill/>
          <a:ln/>
        </p:spPr>
        <p:txBody>
          <a:bodyPr wrap="square" lIns="0" tIns="0" rIns="0" bIns="0" rtlCol="0" anchor="ctr"/>
          <a:lstStyle/>
          <a:p>
            <a:pPr marL="0" indent="0">
              <a:buNone/>
            </a:pPr>
            <a:r>
              <a:rPr lang="en-US" sz="1400" dirty="0">
                <a:solidFill>
                  <a:srgbClr val="1F2937"/>
                </a:solidFill>
              </a:rPr>
              <a:t>Simple administration</a:t>
            </a:r>
            <a:endParaRPr lang="en-US" sz="1400" dirty="0"/>
          </a:p>
        </p:txBody>
      </p:sp>
      <p:sp>
        <p:nvSpPr>
          <p:cNvPr id="10" name="Text 8"/>
          <p:cNvSpPr/>
          <p:nvPr/>
        </p:nvSpPr>
        <p:spPr>
          <a:xfrm>
            <a:off x="1051560" y="448056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Trade-off</a:t>
            </a:r>
            <a:endParaRPr lang="en-US" sz="1100" dirty="0"/>
          </a:p>
        </p:txBody>
      </p:sp>
      <p:sp>
        <p:nvSpPr>
          <p:cNvPr id="11" name="Text 9"/>
          <p:cNvSpPr/>
          <p:nvPr/>
        </p:nvSpPr>
        <p:spPr>
          <a:xfrm>
            <a:off x="1051560" y="4754880"/>
            <a:ext cx="2743200" cy="502920"/>
          </a:xfrm>
          <a:prstGeom prst="rect">
            <a:avLst/>
          </a:prstGeom>
          <a:noFill/>
          <a:ln/>
        </p:spPr>
        <p:txBody>
          <a:bodyPr wrap="square" lIns="0" tIns="0" rIns="0" bIns="0" rtlCol="0" anchor="ctr"/>
          <a:lstStyle/>
          <a:p>
            <a:pPr marL="0" indent="0">
              <a:buNone/>
            </a:pPr>
            <a:r>
              <a:rPr lang="en-US" sz="1400" dirty="0">
                <a:solidFill>
                  <a:srgbClr val="1F2937"/>
                </a:solidFill>
              </a:rPr>
              <a:t>Single point of control / failure</a:t>
            </a:r>
            <a:endParaRPr lang="en-US" sz="1400" dirty="0"/>
          </a:p>
        </p:txBody>
      </p:sp>
      <p:sp>
        <p:nvSpPr>
          <p:cNvPr id="12" name="Shape 10"/>
          <p:cNvSpPr/>
          <p:nvPr/>
        </p:nvSpPr>
        <p:spPr>
          <a:xfrm>
            <a:off x="4526280" y="1417320"/>
            <a:ext cx="3429000" cy="4160520"/>
          </a:xfrm>
          <a:prstGeom prst="roundRect">
            <a:avLst/>
          </a:prstGeom>
          <a:solidFill>
            <a:srgbClr val="FFFFFF"/>
          </a:solidFill>
          <a:ln w="19050">
            <a:solidFill>
              <a:srgbClr val="D7E0E5"/>
            </a:solidFill>
            <a:prstDash val="solid"/>
          </a:ln>
        </p:spPr>
        <p:txBody>
          <a:bodyPr/>
          <a:lstStyle/>
          <a:p>
            <a:endParaRPr lang="en-US"/>
          </a:p>
        </p:txBody>
      </p:sp>
      <p:sp>
        <p:nvSpPr>
          <p:cNvPr id="13" name="Text 11"/>
          <p:cNvSpPr/>
          <p:nvPr/>
        </p:nvSpPr>
        <p:spPr>
          <a:xfrm>
            <a:off x="4754880" y="1783080"/>
            <a:ext cx="2971800" cy="365760"/>
          </a:xfrm>
          <a:prstGeom prst="rect">
            <a:avLst/>
          </a:prstGeom>
          <a:noFill/>
          <a:ln/>
        </p:spPr>
        <p:txBody>
          <a:bodyPr wrap="square" lIns="0" tIns="0" rIns="0" bIns="0" rtlCol="0" anchor="ctr"/>
          <a:lstStyle/>
          <a:p>
            <a:pPr marL="0" indent="0" algn="ctr">
              <a:buNone/>
            </a:pPr>
            <a:r>
              <a:rPr lang="en-US" sz="2200" b="1" dirty="0">
                <a:solidFill>
                  <a:srgbClr val="16324F"/>
                </a:solidFill>
              </a:rPr>
              <a:t>Federated</a:t>
            </a:r>
            <a:endParaRPr lang="en-US" sz="2200" dirty="0"/>
          </a:p>
        </p:txBody>
      </p:sp>
      <p:sp>
        <p:nvSpPr>
          <p:cNvPr id="14" name="Text 12"/>
          <p:cNvSpPr/>
          <p:nvPr/>
        </p:nvSpPr>
        <p:spPr>
          <a:xfrm>
            <a:off x="4846320" y="251460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Control</a:t>
            </a:r>
            <a:endParaRPr lang="en-US" sz="1100" dirty="0"/>
          </a:p>
        </p:txBody>
      </p:sp>
      <p:sp>
        <p:nvSpPr>
          <p:cNvPr id="15" name="Text 13"/>
          <p:cNvSpPr/>
          <p:nvPr/>
        </p:nvSpPr>
        <p:spPr>
          <a:xfrm>
            <a:off x="4846320" y="2788920"/>
            <a:ext cx="2743200" cy="594360"/>
          </a:xfrm>
          <a:prstGeom prst="rect">
            <a:avLst/>
          </a:prstGeom>
          <a:noFill/>
          <a:ln/>
        </p:spPr>
        <p:txBody>
          <a:bodyPr wrap="square" lIns="0" tIns="0" rIns="0" bIns="0" rtlCol="0" anchor="ctr"/>
          <a:lstStyle/>
          <a:p>
            <a:pPr marL="0" indent="0">
              <a:buNone/>
            </a:pPr>
            <a:r>
              <a:rPr lang="en-US" sz="1400" dirty="0">
                <a:solidFill>
                  <a:srgbClr val="1F2937"/>
                </a:solidFill>
              </a:rPr>
              <a:t>Identity provider authenticates across services</a:t>
            </a:r>
            <a:endParaRPr lang="en-US" sz="1400" dirty="0"/>
          </a:p>
        </p:txBody>
      </p:sp>
      <p:sp>
        <p:nvSpPr>
          <p:cNvPr id="16" name="Text 14"/>
          <p:cNvSpPr/>
          <p:nvPr/>
        </p:nvSpPr>
        <p:spPr>
          <a:xfrm>
            <a:off x="4846320" y="356616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Strength</a:t>
            </a:r>
            <a:endParaRPr lang="en-US" sz="1100" dirty="0"/>
          </a:p>
        </p:txBody>
      </p:sp>
      <p:sp>
        <p:nvSpPr>
          <p:cNvPr id="17" name="Text 15"/>
          <p:cNvSpPr/>
          <p:nvPr/>
        </p:nvSpPr>
        <p:spPr>
          <a:xfrm>
            <a:off x="4846320" y="3840480"/>
            <a:ext cx="2743200" cy="457200"/>
          </a:xfrm>
          <a:prstGeom prst="rect">
            <a:avLst/>
          </a:prstGeom>
          <a:noFill/>
          <a:ln/>
        </p:spPr>
        <p:txBody>
          <a:bodyPr wrap="square" lIns="0" tIns="0" rIns="0" bIns="0" rtlCol="0" anchor="ctr"/>
          <a:lstStyle/>
          <a:p>
            <a:pPr marL="0" indent="0">
              <a:buNone/>
            </a:pPr>
            <a:r>
              <a:rPr lang="en-US" sz="1400" dirty="0">
                <a:solidFill>
                  <a:srgbClr val="1F2937"/>
                </a:solidFill>
              </a:rPr>
              <a:t>Convenient SSO</a:t>
            </a:r>
            <a:endParaRPr lang="en-US" sz="1400" dirty="0"/>
          </a:p>
        </p:txBody>
      </p:sp>
      <p:sp>
        <p:nvSpPr>
          <p:cNvPr id="18" name="Text 16"/>
          <p:cNvSpPr/>
          <p:nvPr/>
        </p:nvSpPr>
        <p:spPr>
          <a:xfrm>
            <a:off x="4846320" y="448056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Trade-off</a:t>
            </a:r>
            <a:endParaRPr lang="en-US" sz="1100" dirty="0"/>
          </a:p>
        </p:txBody>
      </p:sp>
      <p:sp>
        <p:nvSpPr>
          <p:cNvPr id="19" name="Text 17"/>
          <p:cNvSpPr/>
          <p:nvPr/>
        </p:nvSpPr>
        <p:spPr>
          <a:xfrm>
            <a:off x="4846320" y="4754880"/>
            <a:ext cx="2743200" cy="502920"/>
          </a:xfrm>
          <a:prstGeom prst="rect">
            <a:avLst/>
          </a:prstGeom>
          <a:noFill/>
          <a:ln/>
        </p:spPr>
        <p:txBody>
          <a:bodyPr wrap="square" lIns="0" tIns="0" rIns="0" bIns="0" rtlCol="0" anchor="ctr"/>
          <a:lstStyle/>
          <a:p>
            <a:pPr marL="0" indent="0">
              <a:buNone/>
            </a:pPr>
            <a:r>
              <a:rPr lang="en-US" sz="1400" dirty="0">
                <a:solidFill>
                  <a:srgbClr val="1F2937"/>
                </a:solidFill>
              </a:rPr>
              <a:t>Dependency on identity provider</a:t>
            </a:r>
            <a:endParaRPr lang="en-US" sz="1400" dirty="0"/>
          </a:p>
        </p:txBody>
      </p:sp>
      <p:sp>
        <p:nvSpPr>
          <p:cNvPr id="20" name="Shape 18"/>
          <p:cNvSpPr/>
          <p:nvPr/>
        </p:nvSpPr>
        <p:spPr>
          <a:xfrm>
            <a:off x="8321040" y="1417320"/>
            <a:ext cx="3429000" cy="4160520"/>
          </a:xfrm>
          <a:prstGeom prst="roundRect">
            <a:avLst/>
          </a:prstGeom>
          <a:solidFill>
            <a:srgbClr val="DCEDEC"/>
          </a:solidFill>
          <a:ln w="19050">
            <a:solidFill>
              <a:srgbClr val="2D6A6A"/>
            </a:solidFill>
            <a:prstDash val="solid"/>
          </a:ln>
        </p:spPr>
        <p:txBody>
          <a:bodyPr/>
          <a:lstStyle/>
          <a:p>
            <a:endParaRPr lang="en-US"/>
          </a:p>
        </p:txBody>
      </p:sp>
      <p:sp>
        <p:nvSpPr>
          <p:cNvPr id="21" name="Text 19"/>
          <p:cNvSpPr/>
          <p:nvPr/>
        </p:nvSpPr>
        <p:spPr>
          <a:xfrm>
            <a:off x="8549640" y="1783080"/>
            <a:ext cx="2971800" cy="365760"/>
          </a:xfrm>
          <a:prstGeom prst="rect">
            <a:avLst/>
          </a:prstGeom>
          <a:noFill/>
          <a:ln/>
        </p:spPr>
        <p:txBody>
          <a:bodyPr wrap="square" lIns="0" tIns="0" rIns="0" bIns="0" rtlCol="0" anchor="ctr"/>
          <a:lstStyle/>
          <a:p>
            <a:pPr marL="0" indent="0" algn="ctr">
              <a:buNone/>
            </a:pPr>
            <a:r>
              <a:rPr lang="en-US" sz="2200" b="1" dirty="0">
                <a:solidFill>
                  <a:srgbClr val="16324F"/>
                </a:solidFill>
              </a:rPr>
              <a:t>SSI</a:t>
            </a:r>
            <a:endParaRPr lang="en-US" sz="2200" dirty="0"/>
          </a:p>
        </p:txBody>
      </p:sp>
      <p:sp>
        <p:nvSpPr>
          <p:cNvPr id="22" name="Text 20"/>
          <p:cNvSpPr/>
          <p:nvPr/>
        </p:nvSpPr>
        <p:spPr>
          <a:xfrm>
            <a:off x="8641080" y="251460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Control</a:t>
            </a:r>
            <a:endParaRPr lang="en-US" sz="1100" dirty="0"/>
          </a:p>
        </p:txBody>
      </p:sp>
      <p:sp>
        <p:nvSpPr>
          <p:cNvPr id="23" name="Text 21"/>
          <p:cNvSpPr/>
          <p:nvPr/>
        </p:nvSpPr>
        <p:spPr>
          <a:xfrm>
            <a:off x="8641080" y="2788920"/>
            <a:ext cx="2743200" cy="594360"/>
          </a:xfrm>
          <a:prstGeom prst="rect">
            <a:avLst/>
          </a:prstGeom>
          <a:noFill/>
          <a:ln/>
        </p:spPr>
        <p:txBody>
          <a:bodyPr wrap="square" lIns="0" tIns="0" rIns="0" bIns="0" rtlCol="0" anchor="ctr"/>
          <a:lstStyle/>
          <a:p>
            <a:pPr marL="0" indent="0">
              <a:buNone/>
            </a:pPr>
            <a:r>
              <a:rPr lang="en-US" sz="1400" dirty="0">
                <a:solidFill>
                  <a:srgbClr val="1F2937"/>
                </a:solidFill>
              </a:rPr>
              <a:t>Holder manages credentials and proofs</a:t>
            </a:r>
            <a:endParaRPr lang="en-US" sz="1400" dirty="0"/>
          </a:p>
        </p:txBody>
      </p:sp>
      <p:sp>
        <p:nvSpPr>
          <p:cNvPr id="24" name="Text 22"/>
          <p:cNvSpPr/>
          <p:nvPr/>
        </p:nvSpPr>
        <p:spPr>
          <a:xfrm>
            <a:off x="8641080" y="356616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Strength</a:t>
            </a:r>
            <a:endParaRPr lang="en-US" sz="1100" dirty="0"/>
          </a:p>
        </p:txBody>
      </p:sp>
      <p:sp>
        <p:nvSpPr>
          <p:cNvPr id="25" name="Text 23"/>
          <p:cNvSpPr/>
          <p:nvPr/>
        </p:nvSpPr>
        <p:spPr>
          <a:xfrm>
            <a:off x="8641080" y="3840480"/>
            <a:ext cx="2743200" cy="457200"/>
          </a:xfrm>
          <a:prstGeom prst="rect">
            <a:avLst/>
          </a:prstGeom>
          <a:noFill/>
          <a:ln/>
        </p:spPr>
        <p:txBody>
          <a:bodyPr wrap="square" lIns="0" tIns="0" rIns="0" bIns="0" rtlCol="0" anchor="ctr"/>
          <a:lstStyle/>
          <a:p>
            <a:pPr marL="0" indent="0">
              <a:buNone/>
            </a:pPr>
            <a:r>
              <a:rPr lang="en-US" sz="1400" dirty="0">
                <a:solidFill>
                  <a:srgbClr val="1F2937"/>
                </a:solidFill>
              </a:rPr>
              <a:t>Portability and user control</a:t>
            </a:r>
            <a:endParaRPr lang="en-US" sz="1400" dirty="0"/>
          </a:p>
        </p:txBody>
      </p:sp>
      <p:sp>
        <p:nvSpPr>
          <p:cNvPr id="26" name="Text 24"/>
          <p:cNvSpPr/>
          <p:nvPr/>
        </p:nvSpPr>
        <p:spPr>
          <a:xfrm>
            <a:off x="8641080" y="4480560"/>
            <a:ext cx="914400" cy="228600"/>
          </a:xfrm>
          <a:prstGeom prst="rect">
            <a:avLst/>
          </a:prstGeom>
          <a:noFill/>
          <a:ln/>
        </p:spPr>
        <p:txBody>
          <a:bodyPr wrap="square" lIns="0" tIns="0" rIns="0" bIns="0" rtlCol="0" anchor="ctr"/>
          <a:lstStyle/>
          <a:p>
            <a:pPr marL="0" indent="0">
              <a:buNone/>
            </a:pPr>
            <a:r>
              <a:rPr lang="en-US" sz="1100" b="1" dirty="0">
                <a:solidFill>
                  <a:srgbClr val="64748B"/>
                </a:solidFill>
              </a:rPr>
              <a:t>Trade-off</a:t>
            </a:r>
            <a:endParaRPr lang="en-US" sz="1100" dirty="0"/>
          </a:p>
        </p:txBody>
      </p:sp>
      <p:sp>
        <p:nvSpPr>
          <p:cNvPr id="27" name="Text 25"/>
          <p:cNvSpPr/>
          <p:nvPr/>
        </p:nvSpPr>
        <p:spPr>
          <a:xfrm>
            <a:off x="8641080" y="4754880"/>
            <a:ext cx="2743200" cy="502920"/>
          </a:xfrm>
          <a:prstGeom prst="rect">
            <a:avLst/>
          </a:prstGeom>
          <a:noFill/>
          <a:ln/>
        </p:spPr>
        <p:txBody>
          <a:bodyPr wrap="square" lIns="0" tIns="0" rIns="0" bIns="0" rtlCol="0" anchor="ctr"/>
          <a:lstStyle/>
          <a:p>
            <a:pPr marL="0" indent="0">
              <a:buNone/>
            </a:pPr>
            <a:r>
              <a:rPr lang="en-US" sz="1400" dirty="0">
                <a:solidFill>
                  <a:srgbClr val="1F2937"/>
                </a:solidFill>
              </a:rPr>
              <a:t>Key management and ecosystem complexity</a:t>
            </a:r>
            <a:endParaRPr lang="en-US" sz="1400" dirty="0"/>
          </a:p>
        </p:txBody>
      </p:sp>
      <p:sp>
        <p:nvSpPr>
          <p:cNvPr id="28"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Conclusion</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The concepts to remember.</a:t>
            </a:r>
            <a:endParaRPr lang="en-US" sz="1200" dirty="0"/>
          </a:p>
        </p:txBody>
      </p:sp>
      <p:sp>
        <p:nvSpPr>
          <p:cNvPr id="4" name="Text 2"/>
          <p:cNvSpPr/>
          <p:nvPr/>
        </p:nvSpPr>
        <p:spPr>
          <a:xfrm>
            <a:off x="1051560" y="1417320"/>
            <a:ext cx="10058400" cy="4297680"/>
          </a:xfrm>
          <a:prstGeom prst="rect">
            <a:avLst/>
          </a:prstGeom>
          <a:noFill/>
          <a:ln/>
        </p:spPr>
        <p:txBody>
          <a:bodyPr wrap="square" lIns="635" tIns="635" rIns="635" bIns="635" rtlCol="0" anchor="ctr"/>
          <a:lstStyle/>
          <a:p>
            <a:pPr marL="228600" indent="-228600">
              <a:buSzPct val="100000"/>
              <a:buChar char="•"/>
            </a:pPr>
            <a:r>
              <a:rPr lang="en-US" sz="1900" dirty="0">
                <a:solidFill>
                  <a:srgbClr val="1F2937"/>
                </a:solidFill>
              </a:rPr>
              <a:t>SSI gives users greater control over credentials — it does not eliminate trusted issuers.</a:t>
            </a:r>
            <a:endParaRPr lang="en-US" sz="1900" dirty="0"/>
          </a:p>
          <a:p>
            <a:pPr marL="228600" indent="-228600">
              <a:buSzPct val="100000"/>
              <a:buChar char="•"/>
            </a:pPr>
            <a:r>
              <a:rPr lang="en-US" sz="1900" dirty="0">
                <a:solidFill>
                  <a:srgbClr val="1F2937"/>
                </a:solidFill>
              </a:rPr>
              <a:t>DIDs provide decentralized identifiers and method-specific resolution.</a:t>
            </a:r>
            <a:endParaRPr lang="en-US" sz="1900" dirty="0"/>
          </a:p>
          <a:p>
            <a:pPr marL="228600" indent="-228600">
              <a:buSzPct val="100000"/>
              <a:buChar char="•"/>
            </a:pPr>
            <a:r>
              <a:rPr lang="en-US" sz="1900" dirty="0">
                <a:solidFill>
                  <a:srgbClr val="1F2937"/>
                </a:solidFill>
              </a:rPr>
              <a:t>VCs are signed credentials; VPs are what holders present to verifiers.</a:t>
            </a:r>
            <a:endParaRPr lang="en-US" sz="1900" dirty="0"/>
          </a:p>
          <a:p>
            <a:pPr marL="228600" indent="-228600">
              <a:buSzPct val="100000"/>
              <a:buChar char="•"/>
            </a:pPr>
            <a:r>
              <a:rPr lang="en-US" sz="1900" dirty="0">
                <a:solidFill>
                  <a:srgbClr val="1F2937"/>
                </a:solidFill>
              </a:rPr>
              <a:t>Blockchain can support SSI, but it is not mandatory for every SSI or DID design.</a:t>
            </a:r>
            <a:endParaRPr lang="en-US" sz="1900" dirty="0"/>
          </a:p>
          <a:p>
            <a:pPr marL="228600" indent="-228600">
              <a:buSzPct val="100000"/>
              <a:buChar char="•"/>
            </a:pPr>
            <a:r>
              <a:rPr lang="en-US" sz="1900" dirty="0">
                <a:solidFill>
                  <a:srgbClr val="1F2937"/>
                </a:solidFill>
              </a:rPr>
              <a:t>Security depends on cryptography, key management, governance and adoption — not blockchain alone.</a:t>
            </a:r>
            <a:endParaRPr lang="en-US" sz="1900" dirty="0"/>
          </a:p>
        </p:txBody>
      </p:sp>
      <p:sp>
        <p:nvSpPr>
          <p:cNvPr id="5" name="Text 3"/>
          <p:cNvSpPr/>
          <p:nvPr/>
        </p:nvSpPr>
        <p:spPr>
          <a:xfrm>
            <a:off x="3383280" y="5486400"/>
            <a:ext cx="5394960" cy="411480"/>
          </a:xfrm>
          <a:prstGeom prst="rect">
            <a:avLst/>
          </a:prstGeom>
          <a:noFill/>
          <a:ln/>
        </p:spPr>
        <p:txBody>
          <a:bodyPr wrap="square" lIns="0" tIns="0" rIns="0" bIns="0" rtlCol="0" anchor="ctr"/>
          <a:lstStyle/>
          <a:p>
            <a:pPr marL="0" indent="0" algn="ctr">
              <a:buNone/>
            </a:pPr>
            <a:r>
              <a:rPr lang="en-US" sz="2400" b="1" dirty="0">
                <a:solidFill>
                  <a:srgbClr val="2D6A6A"/>
                </a:solidFill>
              </a:rPr>
              <a:t>Issuer → Holder → Verifier</a:t>
            </a:r>
            <a:endParaRPr lang="en-US" sz="24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11480"/>
            <a:ext cx="10881360" cy="502920"/>
          </a:xfrm>
          <a:prstGeom prst="rect">
            <a:avLst/>
          </a:prstGeom>
          <a:noFill/>
          <a:ln/>
        </p:spPr>
        <p:txBody>
          <a:bodyPr wrap="square" lIns="0" tIns="0" rIns="0" bIns="0" rtlCol="0" anchor="ctr"/>
          <a:lstStyle/>
          <a:p>
            <a:pPr marL="0" indent="0">
              <a:buNone/>
            </a:pPr>
            <a:r>
              <a:rPr lang="en-US" sz="2800" b="1" dirty="0">
                <a:solidFill>
                  <a:srgbClr val="16324F"/>
                </a:solidFill>
                <a:latin typeface="Aptos Display" pitchFamily="34" charset="0"/>
                <a:ea typeface="Aptos Display" pitchFamily="34" charset="-122"/>
                <a:cs typeface="Aptos Display" pitchFamily="34" charset="-120"/>
              </a:rPr>
              <a:t>References</a:t>
            </a:r>
            <a:endParaRPr lang="en-US" sz="2800" dirty="0"/>
          </a:p>
        </p:txBody>
      </p:sp>
      <p:sp>
        <p:nvSpPr>
          <p:cNvPr id="3" name="Text 1"/>
          <p:cNvSpPr/>
          <p:nvPr/>
        </p:nvSpPr>
        <p:spPr>
          <a:xfrm>
            <a:off x="658368" y="932688"/>
            <a:ext cx="10515600" cy="320040"/>
          </a:xfrm>
          <a:prstGeom prst="rect">
            <a:avLst/>
          </a:prstGeom>
          <a:noFill/>
          <a:ln/>
        </p:spPr>
        <p:txBody>
          <a:bodyPr wrap="square" lIns="0" tIns="0" rIns="0" bIns="0" rtlCol="0" anchor="ctr"/>
          <a:lstStyle/>
          <a:p>
            <a:pPr marL="0" indent="0">
              <a:buNone/>
            </a:pPr>
            <a:r>
              <a:rPr lang="en-US" sz="1200" dirty="0">
                <a:solidFill>
                  <a:srgbClr val="64748B"/>
                </a:solidFill>
              </a:rPr>
              <a:t>Primary sources used for the seminar.</a:t>
            </a:r>
            <a:endParaRPr lang="en-US" sz="1200" dirty="0"/>
          </a:p>
        </p:txBody>
      </p:sp>
      <p:sp>
        <p:nvSpPr>
          <p:cNvPr id="4" name="Shape 2"/>
          <p:cNvSpPr/>
          <p:nvPr/>
        </p:nvSpPr>
        <p:spPr>
          <a:xfrm>
            <a:off x="914400" y="2207623"/>
            <a:ext cx="10332720" cy="1143000"/>
          </a:xfrm>
          <a:prstGeom prst="roundRect">
            <a:avLst>
              <a:gd name="adj" fmla="val 6400"/>
            </a:avLst>
          </a:prstGeom>
          <a:solidFill>
            <a:srgbClr val="FFFFFF"/>
          </a:solidFill>
          <a:ln w="12700">
            <a:solidFill>
              <a:srgbClr val="D7E0E5"/>
            </a:solidFill>
            <a:prstDash val="solid"/>
          </a:ln>
        </p:spPr>
        <p:txBody>
          <a:bodyPr/>
          <a:lstStyle/>
          <a:p>
            <a:endParaRPr lang="en-US"/>
          </a:p>
        </p:txBody>
      </p:sp>
      <p:sp>
        <p:nvSpPr>
          <p:cNvPr id="5" name="Shape 3"/>
          <p:cNvSpPr/>
          <p:nvPr/>
        </p:nvSpPr>
        <p:spPr>
          <a:xfrm>
            <a:off x="914400" y="2207623"/>
            <a:ext cx="73152" cy="1143000"/>
          </a:xfrm>
          <a:prstGeom prst="rect">
            <a:avLst/>
          </a:prstGeom>
          <a:solidFill>
            <a:srgbClr val="2D6A6A"/>
          </a:solidFill>
          <a:ln w="12700">
            <a:solidFill>
              <a:srgbClr val="2D6A6A"/>
            </a:solidFill>
            <a:prstDash val="solid"/>
          </a:ln>
        </p:spPr>
        <p:txBody>
          <a:bodyPr/>
          <a:lstStyle/>
          <a:p>
            <a:endParaRPr lang="en-US"/>
          </a:p>
        </p:txBody>
      </p:sp>
      <p:sp>
        <p:nvSpPr>
          <p:cNvPr id="6" name="Text 4"/>
          <p:cNvSpPr/>
          <p:nvPr/>
        </p:nvSpPr>
        <p:spPr>
          <a:xfrm>
            <a:off x="1143000" y="2408791"/>
            <a:ext cx="9921240" cy="320040"/>
          </a:xfrm>
          <a:prstGeom prst="rect">
            <a:avLst/>
          </a:prstGeom>
          <a:noFill/>
          <a:ln/>
        </p:spPr>
        <p:txBody>
          <a:bodyPr wrap="square" lIns="0" tIns="0" rIns="0" bIns="0" rtlCol="0" anchor="ctr"/>
          <a:lstStyle/>
          <a:p>
            <a:pPr marL="0" indent="0">
              <a:buNone/>
            </a:pPr>
            <a:r>
              <a:rPr lang="en-US" sz="1700" b="1" dirty="0">
                <a:solidFill>
                  <a:srgbClr val="16324F"/>
                </a:solidFill>
              </a:rPr>
              <a:t>W3C Decentralized Identifiers (DID) Core</a:t>
            </a:r>
            <a:endParaRPr lang="en-US" sz="1700" dirty="0"/>
          </a:p>
        </p:txBody>
      </p:sp>
      <p:sp>
        <p:nvSpPr>
          <p:cNvPr id="7" name="Text 5"/>
          <p:cNvSpPr/>
          <p:nvPr/>
        </p:nvSpPr>
        <p:spPr>
          <a:xfrm>
            <a:off x="1143000" y="2865991"/>
            <a:ext cx="9921240" cy="320040"/>
          </a:xfrm>
          <a:prstGeom prst="rect">
            <a:avLst/>
          </a:prstGeom>
          <a:noFill/>
          <a:ln/>
        </p:spPr>
        <p:txBody>
          <a:bodyPr wrap="square" lIns="0" tIns="0" rIns="0" bIns="0" rtlCol="0" anchor="t"/>
          <a:lstStyle/>
          <a:p>
            <a:pPr marL="0" indent="0">
              <a:buNone/>
            </a:pPr>
            <a:r>
              <a:rPr lang="en-US" sz="1350" dirty="0">
                <a:solidFill>
                  <a:srgbClr val="1F2937"/>
                </a:solidFill>
              </a:rPr>
              <a:t>https://www.dock.io/post/self-sovereign-identity</a:t>
            </a:r>
            <a:endParaRPr lang="en-US" sz="1350" dirty="0"/>
          </a:p>
        </p:txBody>
      </p:sp>
      <p:sp>
        <p:nvSpPr>
          <p:cNvPr id="8" name="Shape 6"/>
          <p:cNvSpPr/>
          <p:nvPr/>
        </p:nvSpPr>
        <p:spPr>
          <a:xfrm>
            <a:off x="914400" y="3624943"/>
            <a:ext cx="10332720" cy="1143000"/>
          </a:xfrm>
          <a:prstGeom prst="roundRect">
            <a:avLst>
              <a:gd name="adj" fmla="val 6400"/>
            </a:avLst>
          </a:prstGeom>
          <a:solidFill>
            <a:srgbClr val="FFFFFF"/>
          </a:solidFill>
          <a:ln w="12700">
            <a:solidFill>
              <a:srgbClr val="D7E0E5"/>
            </a:solidFill>
            <a:prstDash val="solid"/>
          </a:ln>
        </p:spPr>
        <p:txBody>
          <a:bodyPr/>
          <a:lstStyle/>
          <a:p>
            <a:endParaRPr lang="en-US"/>
          </a:p>
        </p:txBody>
      </p:sp>
      <p:sp>
        <p:nvSpPr>
          <p:cNvPr id="9" name="Shape 7"/>
          <p:cNvSpPr/>
          <p:nvPr/>
        </p:nvSpPr>
        <p:spPr>
          <a:xfrm>
            <a:off x="914400" y="3624943"/>
            <a:ext cx="73152" cy="1143000"/>
          </a:xfrm>
          <a:prstGeom prst="rect">
            <a:avLst/>
          </a:prstGeom>
          <a:solidFill>
            <a:srgbClr val="16324F"/>
          </a:solidFill>
          <a:ln w="12700">
            <a:solidFill>
              <a:srgbClr val="16324F"/>
            </a:solidFill>
            <a:prstDash val="solid"/>
          </a:ln>
        </p:spPr>
        <p:txBody>
          <a:bodyPr/>
          <a:lstStyle/>
          <a:p>
            <a:endParaRPr lang="en-US"/>
          </a:p>
        </p:txBody>
      </p:sp>
      <p:sp>
        <p:nvSpPr>
          <p:cNvPr id="10" name="Text 8"/>
          <p:cNvSpPr/>
          <p:nvPr/>
        </p:nvSpPr>
        <p:spPr>
          <a:xfrm>
            <a:off x="1143000" y="3826111"/>
            <a:ext cx="9921240" cy="320040"/>
          </a:xfrm>
          <a:prstGeom prst="rect">
            <a:avLst/>
          </a:prstGeom>
          <a:noFill/>
          <a:ln/>
        </p:spPr>
        <p:txBody>
          <a:bodyPr wrap="square" lIns="0" tIns="0" rIns="0" bIns="0" rtlCol="0" anchor="ctr"/>
          <a:lstStyle/>
          <a:p>
            <a:pPr marL="0" indent="0">
              <a:buNone/>
            </a:pPr>
            <a:r>
              <a:rPr lang="en-US" sz="1700" b="1" dirty="0">
                <a:solidFill>
                  <a:srgbClr val="16324F"/>
                </a:solidFill>
              </a:rPr>
              <a:t>Dock — Self-Sovereign Identity Guide</a:t>
            </a:r>
            <a:endParaRPr lang="en-US" sz="1700" dirty="0"/>
          </a:p>
        </p:txBody>
      </p:sp>
      <p:sp>
        <p:nvSpPr>
          <p:cNvPr id="11" name="Text 9"/>
          <p:cNvSpPr/>
          <p:nvPr/>
        </p:nvSpPr>
        <p:spPr>
          <a:xfrm>
            <a:off x="1143000" y="4283311"/>
            <a:ext cx="9921240" cy="320040"/>
          </a:xfrm>
          <a:prstGeom prst="rect">
            <a:avLst/>
          </a:prstGeom>
          <a:noFill/>
          <a:ln/>
        </p:spPr>
        <p:txBody>
          <a:bodyPr wrap="square" lIns="0" tIns="0" rIns="0" bIns="0" rtlCol="0" anchor="t"/>
          <a:lstStyle/>
          <a:p>
            <a:pPr marL="0" indent="0">
              <a:buNone/>
            </a:pPr>
            <a:r>
              <a:rPr lang="en-US" sz="1350" dirty="0">
                <a:solidFill>
                  <a:srgbClr val="1F2937"/>
                </a:solidFill>
              </a:rPr>
              <a:t>https://www.w3.org/TR/did/</a:t>
            </a:r>
            <a:endParaRPr lang="en-US" sz="1350" dirty="0"/>
          </a:p>
        </p:txBody>
      </p:sp>
      <p:sp>
        <p:nvSpPr>
          <p:cNvPr id="14" name="Text 12"/>
          <p:cNvSpPr/>
          <p:nvPr/>
        </p:nvSpPr>
        <p:spPr>
          <a:xfrm>
            <a:off x="1143000" y="4498848"/>
            <a:ext cx="9921240" cy="320040"/>
          </a:xfrm>
          <a:prstGeom prst="rect">
            <a:avLst/>
          </a:prstGeom>
          <a:noFill/>
          <a:ln/>
        </p:spPr>
        <p:txBody>
          <a:bodyPr wrap="square" lIns="0" tIns="0" rIns="0" bIns="0" rtlCol="0" anchor="ctr"/>
          <a:lstStyle/>
          <a:p>
            <a:pPr marL="0" indent="0">
              <a:buNone/>
            </a:pPr>
            <a:endParaRPr lang="en-US" sz="1700" dirty="0"/>
          </a:p>
        </p:txBody>
      </p:sp>
      <p:sp>
        <p:nvSpPr>
          <p:cNvPr id="15" name="Text 13"/>
          <p:cNvSpPr/>
          <p:nvPr/>
        </p:nvSpPr>
        <p:spPr>
          <a:xfrm>
            <a:off x="1143000" y="4956048"/>
            <a:ext cx="9921240" cy="320040"/>
          </a:xfrm>
          <a:prstGeom prst="rect">
            <a:avLst/>
          </a:prstGeom>
          <a:noFill/>
          <a:ln/>
        </p:spPr>
        <p:txBody>
          <a:bodyPr wrap="square" lIns="0" tIns="0" rIns="0" bIns="0" rtlCol="0" anchor="t"/>
          <a:lstStyle/>
          <a:p>
            <a:pPr marL="0" indent="0">
              <a:buNone/>
            </a:pPr>
            <a:endParaRPr lang="en-US" sz="1350" dirty="0"/>
          </a:p>
        </p:txBody>
      </p:sp>
      <p:sp>
        <p:nvSpPr>
          <p:cNvPr id="16" name="Text 14"/>
          <p:cNvSpPr/>
          <p:nvPr/>
        </p:nvSpPr>
        <p:spPr>
          <a:xfrm>
            <a:off x="4114800" y="5715000"/>
            <a:ext cx="3931920" cy="457200"/>
          </a:xfrm>
          <a:prstGeom prst="rect">
            <a:avLst/>
          </a:prstGeom>
          <a:noFill/>
          <a:ln/>
        </p:spPr>
        <p:txBody>
          <a:bodyPr wrap="square" lIns="0" tIns="0" rIns="0" bIns="0" rtlCol="0" anchor="ctr"/>
          <a:lstStyle/>
          <a:p>
            <a:pPr marL="0" indent="0" algn="ctr">
              <a:buNone/>
            </a:pPr>
            <a:r>
              <a:rPr lang="en-US" sz="4800" b="1" dirty="0">
                <a:solidFill>
                  <a:srgbClr val="16324F"/>
                </a:solidFill>
              </a:rPr>
              <a:t>Thank you</a:t>
            </a:r>
            <a:endParaRPr lang="en-US" sz="48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280"/>
                </a:solidFill>
              </a:defRPr>
            </a:lvl1pPr>
          </a:lstStyle>
          <a:p>
            <a:pPr algn="l"/>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391</TotalTime>
  <Words>2628</Words>
  <Application>Microsoft Office PowerPoint</Application>
  <PresentationFormat>Widescreen</PresentationFormat>
  <Paragraphs>268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Faxeel Ahmed</dc:creator>
  <cp:lastModifiedBy>Faxeel Ahmed</cp:lastModifiedBy>
  <cp:revision>13</cp:revision>
  <dcterms:created xsi:type="dcterms:W3CDTF">2026-09-27T04:57:24Z</dcterms:created>
  <dcterms:modified xsi:type="dcterms:W3CDTF">2026-09-28T15:29:09Z</dcterms:modified>
</cp:coreProperties>
</file>