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7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6586" autoAdjust="0"/>
  </p:normalViewPr>
  <p:slideViewPr>
    <p:cSldViewPr snapToGrid="0">
      <p:cViewPr varScale="1">
        <p:scale>
          <a:sx n="73" d="100"/>
          <a:sy n="73" d="100"/>
        </p:scale>
        <p:origin x="20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840A2-7F19-4395-AF54-A182C3786D8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D54E7C-0A82-4B01-A627-B6A97B42D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5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59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09A-324F-C1DC-1A3E-6F69D7F5B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0B15D-ADA9-E66F-B706-C167C04B6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99170-19D4-CBBF-4FAC-BCC81678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C26C1-C429-4FED-9F99-1E6846EF85F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D9D4E-DFFB-730F-AA71-5AA692FB1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F887F-8107-5F8B-D57A-35435D156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E5F4-1983-43A7-B50A-25A800032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70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449EF-283E-F270-EBDE-B2827C52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08B7B-D1D0-4A56-7262-E14D9C47C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85A9A-9ED5-DADF-AE1B-7BCBE9ABF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C26C1-C429-4FED-9F99-1E6846EF85F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0FA99-4869-85CA-3457-33927DC29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F89FE-C714-35B9-2BBA-C83B5C5F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E5F4-1983-43A7-B50A-25A800032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98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4891B-0972-081E-E8B8-1E5284E2E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B999A-A085-9E9B-6A47-679411BB4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F8BC9-77A5-4415-C8D7-7D39BE9EC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C26C1-C429-4FED-9F99-1E6846EF85F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694F9-A256-AA60-DF58-EE2E3919E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F5F63-F630-3EF8-9572-94BA06D12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E5F4-1983-43A7-B50A-25A800032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93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FE79D-984C-64F6-C17C-AD5C5143A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ED396-481A-9025-BC48-0A7E1C773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C5BD4-A772-D600-C809-1E669C0B6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926A6-51AC-2FFD-F15E-CEA4360E7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C26C1-C429-4FED-9F99-1E6846EF85F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3AA8E-368D-4D1D-0D37-763FE057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E5AF6-8630-16D7-55E9-101C8C499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E5F4-1983-43A7-B50A-25A800032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9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0F8BB-0151-DE1C-22CF-BC0BDC374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51B06-EF66-A69D-922C-734D59BEB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A1D0C9-9622-EC85-0ADA-5739D1752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B827F-4D98-0249-36B6-18E5D978D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C39746-8B9B-B5B1-499A-A4366E99BC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0E3A1C-C9F3-CD15-F037-3F19084BB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C26C1-C429-4FED-9F99-1E6846EF85F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5A3919-CDBE-9FE4-24FA-F06EBAB5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2E771C-8E2D-30CF-C7A0-E35A2562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E5F4-1983-43A7-B50A-25A800032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53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B15C-F2EE-C57D-4865-27529B2AF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275725-3471-2732-A5E9-16D9075B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C26C1-C429-4FED-9F99-1E6846EF85F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4BDEA9-545A-A195-92E4-2EEB2D267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0CD4E-AFDD-7C32-2EB3-7639AD995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E5F4-1983-43A7-B50A-25A800032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609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DC67DF-7A6E-12DB-E7CF-448C8562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C26C1-C429-4FED-9F99-1E6846EF85F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581B03-3356-292A-E1DA-C7041DD68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0ED5D-1082-2498-DE7F-288F4221A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E5F4-1983-43A7-B50A-25A800032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78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8BF8-F7F5-9F15-2EBB-274020B1E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14A1F-3050-EE8F-BF0D-ED47A0031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F83F5-7015-53A1-5848-6A1637DFF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DB9F9-6AB0-041F-D859-47C68D663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C26C1-C429-4FED-9F99-1E6846EF85F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C18C1-3DA4-5BE1-1390-76754CE1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C8C12-AC9F-06C2-97EC-71D28BD3C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E5F4-1983-43A7-B50A-25A800032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49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4BB9D-43CE-18AF-7ECC-A3F9C61E3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9583BB-834C-845C-D93A-7716F9BAEF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6C2F2-A7D6-8737-D456-8DC7A33E9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DB293-9C51-38F5-D6D8-403793357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C26C1-C429-4FED-9F99-1E6846EF85F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20825-2C92-71DC-62B0-5AC2DAB57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52C62-077D-48AE-1765-EDD437F9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E5F4-1983-43A7-B50A-25A800032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12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3B9C-1ADE-48E5-2691-8B1D90BD9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8A8FF-0C85-CA7D-AADC-F14EFE966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C1A96-6100-B91E-47DF-5156D60F5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C26C1-C429-4FED-9F99-1E6846EF85F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90153-EBBF-51A0-3546-961D95D4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2BFA7-5EC3-161C-8C60-BAEDBFC71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E5F4-1983-43A7-B50A-25A800032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569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29F3A0-C67E-0368-8702-11E1FA3D22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271AD1-AE7C-EF3B-E8EB-297BABC38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C39DA-37E2-8078-39F3-3E496BA4B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C26C1-C429-4FED-9F99-1E6846EF85F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9BAD-204B-71A7-7241-6ADB2D643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F13CA-C7D8-D771-6480-6DE13834D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E5F4-1983-43A7-B50A-25A800032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1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SELF-SOVEREIGN IDENTITY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0" y="65105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FAZEEL AHMED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84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EE2C8F-5149-5C07-DBCC-9D4400502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D342B-280D-753F-27C4-8CB803180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FB238-D085-92F0-90B1-FBD4CAC74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C26C1-C429-4FED-9F99-1E6846EF85F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3F236-9639-EA22-4F44-0837EAEA4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3401D-B33B-B35A-427F-C8747E4F9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7EE5F4-1983-43A7-B50A-25A800032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93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051560" cy="411480"/>
          </a:xfrm>
          <a:prstGeom prst="roundRect">
            <a:avLst/>
          </a:prstGeom>
          <a:solidFill>
            <a:srgbClr val="DCEDEC"/>
          </a:solidFill>
          <a:ln w="12700">
            <a:solidFill>
              <a:srgbClr val="DCED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85953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6A6A"/>
                </a:solidFill>
              </a:rPr>
              <a:t>SEMINAR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6583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6324F"/>
                </a:solidFill>
              </a:rPr>
              <a:t>Self-Sovereign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6324F"/>
                </a:solidFill>
              </a:rPr>
              <a:t>Identity (SSI)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324612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</a:rPr>
              <a:t>Decentralized identity, DIDs, Verifiable Credentials,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</a:rPr>
              <a:t>and the security trade-offs behind user-controlled identity.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0" y="1463040"/>
            <a:ext cx="1463040" cy="0"/>
          </a:xfrm>
          <a:prstGeom prst="line">
            <a:avLst/>
          </a:prstGeom>
          <a:noFill/>
          <a:ln w="19050">
            <a:solidFill>
              <a:srgbClr val="9CC3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92640" y="1005840"/>
            <a:ext cx="914400" cy="1188720"/>
          </a:xfrm>
          <a:prstGeom prst="line">
            <a:avLst/>
          </a:prstGeom>
          <a:noFill/>
          <a:ln w="19050">
            <a:solidFill>
              <a:srgbClr val="9CC3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0" y="1463040"/>
            <a:ext cx="731520" cy="1280160"/>
          </a:xfrm>
          <a:prstGeom prst="line">
            <a:avLst/>
          </a:prstGeom>
          <a:noFill/>
          <a:ln w="19050">
            <a:solidFill>
              <a:srgbClr val="9CC3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0" y="2743200"/>
            <a:ext cx="1645920" cy="0"/>
          </a:xfrm>
          <a:prstGeom prst="line">
            <a:avLst/>
          </a:prstGeom>
          <a:noFill/>
          <a:ln w="19050">
            <a:solidFill>
              <a:srgbClr val="9CC3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961120" y="2743200"/>
            <a:ext cx="1280160" cy="1005840"/>
          </a:xfrm>
          <a:prstGeom prst="line">
            <a:avLst/>
          </a:prstGeom>
          <a:noFill/>
          <a:ln w="19050">
            <a:solidFill>
              <a:srgbClr val="9CC3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961120" y="2743200"/>
            <a:ext cx="0" cy="1463040"/>
          </a:xfrm>
          <a:prstGeom prst="line">
            <a:avLst/>
          </a:prstGeom>
          <a:noFill/>
          <a:ln w="19050">
            <a:solidFill>
              <a:srgbClr val="9CC3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0" y="4206240"/>
            <a:ext cx="1188720" cy="731520"/>
          </a:xfrm>
          <a:prstGeom prst="line">
            <a:avLst/>
          </a:prstGeom>
          <a:noFill/>
          <a:ln w="19050">
            <a:solidFill>
              <a:srgbClr val="9CC3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0" y="4937760"/>
            <a:ext cx="1097280" cy="0"/>
          </a:xfrm>
          <a:prstGeom prst="line">
            <a:avLst/>
          </a:prstGeom>
          <a:noFill/>
          <a:ln w="19050">
            <a:solidFill>
              <a:srgbClr val="9CC3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241280" y="3749040"/>
            <a:ext cx="731520" cy="1005840"/>
          </a:xfrm>
          <a:prstGeom prst="line">
            <a:avLst/>
          </a:prstGeom>
          <a:noFill/>
          <a:ln w="19050">
            <a:solidFill>
              <a:srgbClr val="9CC3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56448" y="1389888"/>
            <a:ext cx="146304" cy="146304"/>
          </a:xfrm>
          <a:prstGeom prst="ellipse">
            <a:avLst/>
          </a:prstGeom>
          <a:solidFill>
            <a:srgbClr val="2D6A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19488" y="932688"/>
            <a:ext cx="146304" cy="146304"/>
          </a:xfrm>
          <a:prstGeom prst="ellipse">
            <a:avLst/>
          </a:prstGeom>
          <a:solidFill>
            <a:srgbClr val="2D6A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533888" y="2121408"/>
            <a:ext cx="146304" cy="146304"/>
          </a:xfrm>
          <a:prstGeom prst="ellipse">
            <a:avLst/>
          </a:prstGeom>
          <a:solidFill>
            <a:srgbClr val="2D6A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887968" y="2670048"/>
            <a:ext cx="146304" cy="146304"/>
          </a:xfrm>
          <a:prstGeom prst="ellipse">
            <a:avLst/>
          </a:prstGeom>
          <a:solidFill>
            <a:srgbClr val="E7A84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168128" y="3675888"/>
            <a:ext cx="146304" cy="146304"/>
          </a:xfrm>
          <a:prstGeom prst="ellipse">
            <a:avLst/>
          </a:prstGeom>
          <a:solidFill>
            <a:srgbClr val="2D6A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82128" y="4133088"/>
            <a:ext cx="146304" cy="146304"/>
          </a:xfrm>
          <a:prstGeom prst="ellipse">
            <a:avLst/>
          </a:prstGeom>
          <a:solidFill>
            <a:srgbClr val="2D6A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070848" y="4864608"/>
            <a:ext cx="146304" cy="146304"/>
          </a:xfrm>
          <a:prstGeom prst="ellipse">
            <a:avLst/>
          </a:prstGeom>
          <a:solidFill>
            <a:srgbClr val="2D6A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899648" y="4681728"/>
            <a:ext cx="146304" cy="146304"/>
          </a:xfrm>
          <a:prstGeom prst="ellipse">
            <a:avLst/>
          </a:prstGeom>
          <a:solidFill>
            <a:srgbClr val="2D6A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5212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Fazeel Ahmed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5596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Decentralized Systems · University of Genoa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914400"/>
            <a:ext cx="11201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6324F"/>
                </a:solidFill>
              </a:rPr>
              <a:t>Introduction to Self-Sovereign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6324F"/>
                </a:solidFill>
              </a:rPr>
              <a:t>Identity (SSI)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746150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</a:rPr>
              <a:t>Self-Sovereign Identity (SSI) is a digital identity system that gives users more control over their personal information. Instead of keeping all identity data with one central organization, users can manage and share their information themselves.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85800" y="5212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5596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86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do we need a different identity model?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Start with the problem before the technology.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" cy="3383280"/>
          </a:xfrm>
          <a:prstGeom prst="rect">
            <a:avLst/>
          </a:prstGeom>
          <a:solidFill>
            <a:srgbClr val="B85C5C"/>
          </a:solidFill>
          <a:ln w="12700">
            <a:solidFill>
              <a:srgbClr val="B8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618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Centralized identity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075688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Identity data is stored and controlled by one organization. A breach or outage can affect many users.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73152" cy="3383280"/>
          </a:xfrm>
          <a:prstGeom prst="rect">
            <a:avLst/>
          </a:prstGeom>
          <a:solidFill>
            <a:srgbClr val="E7A84B"/>
          </a:solidFill>
          <a:ln w="12700">
            <a:solidFill>
              <a:srgbClr val="E7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618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Federated identity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075688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A third-party identity provider enables sign-in across services, such as Single Sign-On.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73152" cy="3383280"/>
          </a:xfrm>
          <a:prstGeom prst="rect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75320" y="1618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SSI approach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75320" y="2075688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The user holds credentials in a wallet and presents verifiable proofs when needed.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521208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</a:rPr>
              <a:t>Goal: more user control, portability and privacy — without removing the need to trust legitimate issuers.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SSI trust triangle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Three roles participate in a credential exchange.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5840" y="182880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</a:rPr>
              <a:t>ISSUER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2697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Creates and digitally signs a credential.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Example: University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2743200" cy="2011680"/>
          </a:xfrm>
          <a:prstGeom prst="roundRect">
            <a:avLst/>
          </a:prstGeom>
          <a:solidFill>
            <a:srgbClr val="DCEDEC"/>
          </a:solidFill>
          <a:ln w="19050">
            <a:solidFill>
              <a:srgbClr val="2D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</a:rPr>
              <a:t>HOLDER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00600" y="2697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Receives and stores the credential in a wallet.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Example: Student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2104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</a:rPr>
              <a:t>VERIFIER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66760" y="2697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Checks the credential and signature.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Example: Employer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86200" y="2514600"/>
            <a:ext cx="502920" cy="502920"/>
          </a:xfrm>
          <a:prstGeom prst="chevron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52360" y="2514600"/>
            <a:ext cx="502920" cy="502920"/>
          </a:xfrm>
          <a:prstGeom prst="chevron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2044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issues VC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95160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presents proof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47091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</a:rPr>
              <a:t>Trust is not removed. Cryptography proves who signed the credential; the verifier still decides whether that issuer is trustworthy.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building blocks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SSI systems commonly combine these concepts.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73152" cy="3566160"/>
          </a:xfrm>
          <a:prstGeom prst="rect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6184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1. DIDs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075688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Decentralized Identifiers are identifiers controlled through cryptographic keys. A DID resolves according to its DID method.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73152" cy="3566160"/>
          </a:xfrm>
          <a:prstGeom prst="rect">
            <a:avLst/>
          </a:prstGeom>
          <a:solidFill>
            <a:srgbClr val="E7A84B"/>
          </a:solidFill>
          <a:ln w="12700">
            <a:solidFill>
              <a:srgbClr val="E7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6184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2. Verifiable Credentials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075688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Digitally signed credentials containing claims from an issuer about a subject or holder.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01000" y="141732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01000" y="1417320"/>
            <a:ext cx="73152" cy="356616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0" y="16184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3. Verifiable Presentations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2075688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A holder packages credential information or proofs for a verifier and can sign the presentation.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88720" y="53035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C5C"/>
                </a:solidFill>
              </a:rPr>
              <a:t>Blockchain can support some SSI designs, but SSI and DIDs do not universally require a blockchain.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SSI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 simple university → student → employer example.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502920" cy="502920"/>
          </a:xfrm>
          <a:prstGeom prst="ellipse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44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1307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</a:rPr>
              <a:t>Create / control DID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60520" y="130759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Student wallet manages keys and identifiers.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65860" y="1828800"/>
            <a:ext cx="0" cy="365760"/>
          </a:xfrm>
          <a:prstGeom prst="line">
            <a:avLst/>
          </a:prstGeom>
          <a:noFill/>
          <a:ln w="25400">
            <a:solidFill>
              <a:srgbClr val="A7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3134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</a:rPr>
              <a:t>Issue credential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60520" y="217627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University verifies the student and signs a VC.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65860" y="2697480"/>
            <a:ext cx="0" cy="365760"/>
          </a:xfrm>
          <a:prstGeom prst="line">
            <a:avLst/>
          </a:prstGeom>
          <a:noFill/>
          <a:ln w="25400">
            <a:solidFill>
              <a:srgbClr val="A7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4400" y="3063240"/>
            <a:ext cx="502920" cy="502920"/>
          </a:xfrm>
          <a:prstGeom prst="ellipse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1821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3044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</a:rPr>
              <a:t>Store credential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60520" y="304495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Student keeps the VC in a digital wallet.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65860" y="3566160"/>
            <a:ext cx="0" cy="365760"/>
          </a:xfrm>
          <a:prstGeom prst="line">
            <a:avLst/>
          </a:prstGeom>
          <a:noFill/>
          <a:ln w="25400">
            <a:solidFill>
              <a:srgbClr val="A7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3931920"/>
            <a:ext cx="502920" cy="502920"/>
          </a:xfrm>
          <a:prstGeom prst="ellipse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0507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3913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</a:rPr>
              <a:t>Present proof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60520" y="391363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Student sends a VP or credential proof to employer.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165860" y="4434840"/>
            <a:ext cx="0" cy="365760"/>
          </a:xfrm>
          <a:prstGeom prst="line">
            <a:avLst/>
          </a:prstGeom>
          <a:noFill/>
          <a:ln w="25400">
            <a:solidFill>
              <a:srgbClr val="A7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" y="4800600"/>
            <a:ext cx="502920" cy="502920"/>
          </a:xfrm>
          <a:prstGeom prst="ellipse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49194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45920" y="4782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</a:rPr>
              <a:t>Verify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160520" y="478231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Employer checks signatures, issuer identity and credential status.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Decentralized Identifiers are Created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 DID is an identifier; the DID Document provides verification information.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37490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6A6A"/>
                </a:solidFill>
              </a:rPr>
              <a:t>did:example:123456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2514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24F"/>
                </a:solidFill>
              </a:rPr>
              <a:t>DID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3063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</a:rPr>
              <a:t>A globally unique identifier under a DID method.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83480" y="2651760"/>
            <a:ext cx="640080" cy="640080"/>
          </a:xfrm>
          <a:prstGeom prst="chevron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24F"/>
                </a:solidFill>
              </a:rPr>
              <a:t>DID Document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46520" y="2423160"/>
            <a:ext cx="44805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Verification methods / public keys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Authentication relationships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Service endpoints (depending on method)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Other method-specific information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53492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85C5C"/>
                </a:solidFill>
              </a:rPr>
              <a:t>Resolution is method-specific — the DID Document is not always fetched from a blockchain.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Verifiable Credentials (VCs) are issued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Digitally signed claims from an issuer.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45720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8016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24F"/>
                </a:solidFill>
              </a:rPr>
              <a:t>University Degree Credential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2514600"/>
            <a:ext cx="36576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Issuer: University of Example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Subject: Student DID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Degree: MSc Computer Science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Issued: 2026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Proof: Digital signature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4297680" cy="2926080"/>
          </a:xfrm>
          <a:prstGeom prst="roundRect">
            <a:avLst/>
          </a:prstGeom>
          <a:solidFill>
            <a:srgbClr val="DCEDEC"/>
          </a:solidFill>
          <a:ln w="12700">
            <a:solidFill>
              <a:srgbClr val="A7C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2084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</a:rPr>
              <a:t>What the signature gives us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2788920"/>
            <a:ext cx="33832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Authenticity: who signed it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Integrity: whether it was altered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Machine-verifiable proof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VC vs. Verifiable Presentation (VP)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Receive a credential; present a proof.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73152" cy="3566160"/>
          </a:xfrm>
          <a:prstGeom prst="rect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7099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Verifiable Credential (VC)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2167128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Issued by an issuer and held by the user.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Example: the university-issued digital degree.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766560" y="15087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0" y="1508760"/>
            <a:ext cx="73152" cy="3566160"/>
          </a:xfrm>
          <a:prstGeom prst="rect">
            <a:avLst/>
          </a:prstGeom>
          <a:solidFill>
            <a:srgbClr val="E7A84B"/>
          </a:solidFill>
          <a:ln w="12700">
            <a:solidFill>
              <a:srgbClr val="E7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95160" y="17099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Verifiable Presentation (VP)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95160" y="2167128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Created/presented by the holder for a verifier. It can contain one or more credentials or derived proofs.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715000" y="2788920"/>
            <a:ext cx="685800" cy="685800"/>
          </a:xfrm>
          <a:prstGeom prst="chevron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5394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</a:rPr>
              <a:t>VC = what I RECEIVE     •     VP = what I PRESENT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blockchain can fit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Useful in some SSI architectures, but not a universal requirement.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600200"/>
            <a:ext cx="73152" cy="3566160"/>
          </a:xfrm>
          <a:prstGeom prst="rect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801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Public / shared registry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2258568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DID-related data, public keys, status or anchors may be recorded depending on the design.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17720" y="160020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17720" y="1600200"/>
            <a:ext cx="73152" cy="356616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801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Tamper evidence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46320" y="2258568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Consensus and cryptographic linking can make unauthorized history changes difficult.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366760" y="160020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66760" y="1600200"/>
            <a:ext cx="73152" cy="3566160"/>
          </a:xfrm>
          <a:prstGeom prst="rect">
            <a:avLst/>
          </a:prstGeom>
          <a:solidFill>
            <a:srgbClr val="E7A84B"/>
          </a:solidFill>
          <a:ln w="12700">
            <a:solidFill>
              <a:srgbClr val="E7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95360" y="1801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No personal-data assumption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95360" y="2258568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Good SSI designs avoid putting sensitive personal credentials directly on a public ledger.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0584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85C5C"/>
                </a:solidFill>
              </a:rPr>
              <a:t>Design principle: put only what must be publicly verifiable on shared infrastructure; keep personal data off-chain when possible.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privacy benefits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What SSI is trying to improve.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73152" cy="3566160"/>
          </a:xfrm>
          <a:prstGeom prst="rect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6184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User control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075688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Credentials can be held by the user instead of being available only through one provider.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73152" cy="356616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6184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Cryptographic verification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075688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Digital signatures help detect forgery and unauthorized modification.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01000" y="141732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01000" y="1417320"/>
            <a:ext cx="73152" cy="3566160"/>
          </a:xfrm>
          <a:prstGeom prst="rect">
            <a:avLst/>
          </a:prstGeom>
          <a:solidFill>
            <a:srgbClr val="E7A84B"/>
          </a:solidFill>
          <a:ln w="12700">
            <a:solidFill>
              <a:srgbClr val="E7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0" y="16184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Data minimization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2075688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Some credential systems can reveal only the information needed for a transaction.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05840" y="53492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24F"/>
                </a:solidFill>
              </a:rPr>
              <a:t>Example: prove “over 18” without necessarily revealing a full date of birth, if the credential scheme supports selective disclosure.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and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SSI moves some responsibilities to users and ecosystem participants.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73152" cy="1874520"/>
          </a:xfrm>
          <a:prstGeom prst="rect">
            <a:avLst/>
          </a:prstGeom>
          <a:solidFill>
            <a:srgbClr val="B85C5C"/>
          </a:solidFill>
          <a:ln w="12700">
            <a:solidFill>
              <a:srgbClr val="B8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6184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Key management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2075688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Users need secure key storage, backup, rotation and recovery mechanisms.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73152" cy="1874520"/>
          </a:xfrm>
          <a:prstGeom prst="rect">
            <a:avLst/>
          </a:prstGeom>
          <a:solidFill>
            <a:srgbClr val="E7A84B"/>
          </a:solidFill>
          <a:ln w="12700">
            <a:solidFill>
              <a:srgbClr val="E7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6184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Issuer trust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2075688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A valid signature does not guarantee that the issuer is authoritative or honest.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37033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703320"/>
            <a:ext cx="73152" cy="1874520"/>
          </a:xfrm>
          <a:prstGeom prst="rect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39044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Adoption &amp; interoperability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97280" y="4361688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Wallets, issuers and verifiers must support compatible standards and policies.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7033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3703320"/>
            <a:ext cx="73152" cy="18745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39044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Legal &amp; governance questions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4361688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Revocation, liability, privacy regulation and cross-border recognition can be complex.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Traditional vs. Federated vs. SSI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 conceptual comparison — each model has trade-offs.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42900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324F"/>
                </a:solidFill>
              </a:rPr>
              <a:t>Centralized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Control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27889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One provider controls identity records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3566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Strength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Simple administration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4480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Trade-off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Single point of control / failure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342900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324F"/>
                </a:solidFill>
              </a:rPr>
              <a:t>Federated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Control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7889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Identity provider authenticates across services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566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Strength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Convenient SSO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4480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Trade-off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Dependency on identity provider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21040" y="1417320"/>
            <a:ext cx="3429000" cy="4160520"/>
          </a:xfrm>
          <a:prstGeom prst="roundRect">
            <a:avLst/>
          </a:prstGeom>
          <a:solidFill>
            <a:srgbClr val="DCEDEC"/>
          </a:solidFill>
          <a:ln w="19050">
            <a:solidFill>
              <a:srgbClr val="2D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49640" y="1783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324F"/>
                </a:solidFill>
              </a:rPr>
              <a:t>SSI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4108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Control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41080" y="27889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Holder manages credentials and proofs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41080" y="3566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Strength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4108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Portability and user control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41080" y="4480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Trade-off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4108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Key management and ecosystem complexity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The concepts to remember.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" y="1417320"/>
            <a:ext cx="1005840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SSI gives users greater control over credentials — it does not eliminate trusted issuers.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DIDs provide decentralized identifiers and method-specific resolution.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VCs are signed credentials; VPs are what holders present to verifiers.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Blockchain can support SSI, but it is not mandatory for every SSI or DID design.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Security depends on cryptography, key management, governance and adoption — not blockchain alone.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383280" y="54864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6A6A"/>
                </a:solidFill>
              </a:rPr>
              <a:t>Issuer → Holder → Verifier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Primary sources used for the seminar.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2207623"/>
            <a:ext cx="10332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207623"/>
            <a:ext cx="73152" cy="1143000"/>
          </a:xfrm>
          <a:prstGeom prst="rect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408791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W3C Decentralized Identifiers (DID) Core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2865991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https://www.dock.io/post/self-sovereign-identity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624943"/>
            <a:ext cx="10332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624943"/>
            <a:ext cx="73152" cy="1143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3826111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</a:rPr>
              <a:t>Dock — Self-Sovereign Identity Guide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3000" y="4283311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https://www.w3.org/TR/did/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4498848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" y="4956048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114800" y="5715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6324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1061</Words>
  <Application>Microsoft Office PowerPoint</Application>
  <PresentationFormat>Widescreen</PresentationFormat>
  <Paragraphs>187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Faxeel Ahmed</dc:creator>
  <cp:lastModifiedBy>Faxeel Ahmed</cp:lastModifiedBy>
  <cp:revision>22</cp:revision>
  <dcterms:created xsi:type="dcterms:W3CDTF">2026-09-27T04:57:24Z</dcterms:created>
  <dcterms:modified xsi:type="dcterms:W3CDTF">2026-09-28T08:22:43Z</dcterms:modified>
</cp:coreProperties>
</file>